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73152" cy="5143500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474720"/>
            <a:ext cx="2743200" cy="2743200"/>
          </a:xfrm>
          <a:prstGeom prst="ellipse">
            <a:avLst/>
          </a:prstGeom>
          <a:solidFill>
            <a:srgbClr val="4299E1">
              <a:alpha val="12000"/>
            </a:srgbClr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82880"/>
            <a:ext cx="1463040" cy="1463040"/>
          </a:xfrm>
          <a:prstGeom prst="ellipse">
            <a:avLst/>
          </a:prstGeom>
          <a:solidFill>
            <a:srgbClr val="2B6CB0">
              <a:alpha val="15000"/>
            </a:srgbClr>
          </a:solidFill>
          <a:ln w="12700">
            <a:solidFill>
              <a:srgbClr val="2B6CB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3716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423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0CDF4"/>
                </a:solidFill>
              </a:rPr>
              <a:t>Apache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74320" y="2926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Kafka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274320" y="3794760"/>
            <a:ext cx="2560320" cy="274320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FORMATION INTENSIVE — 9 JOURS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57600" y="640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de A à Z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3657600" y="1353312"/>
            <a:ext cx="52120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0" y="148132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Développement · Architecture · Administration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Debezium CDC · Performance · Certification Confluent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0" y="2286000"/>
            <a:ext cx="2423160" cy="868680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49631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4340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Java &amp; Python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4340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Producer, Consumer, Streams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09360" y="2286000"/>
            <a:ext cx="2423160" cy="868680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496312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9516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Admin Cluster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99516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KRaft, ISR, Monitoring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657600" y="3383280"/>
            <a:ext cx="2423160" cy="868680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3593592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4340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Debezium CDC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43400" y="3822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MySQL, PostgreSQL, Avro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309360" y="3383280"/>
            <a:ext cx="2423160" cy="868680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3593592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9516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Sécurité &amp; Perfo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995160" y="3822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TLS, SASL, Benchmarks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Apache Kafka 3.x (KRaft)  ·  Java 17  ·  Python 3.9+  ·  Debezium  ·  Docker  ·  Prometheus &amp; Grafana  ·  Confluent CCDAK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Sommaire de la formation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97680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457200" cy="65836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841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Contexte &amp; État de l'art Kafka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11430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Slides 3–6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554480"/>
            <a:ext cx="4297680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554480"/>
            <a:ext cx="457200" cy="65836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5544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Concepts fondamentaux &amp; Architecture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" y="19476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Slides 7–12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359152"/>
            <a:ext cx="4297680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359152"/>
            <a:ext cx="457200" cy="65836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35915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Programme 9 jours — Feuille de route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1248" y="27523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Slides 13–15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163824"/>
            <a:ext cx="4297680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163824"/>
            <a:ext cx="457200" cy="65836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1638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3255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Session 1 — Développement Java/Python (J1–J3)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1248" y="35570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Slides 16–19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968496"/>
            <a:ext cx="4297680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968496"/>
            <a:ext cx="457200" cy="65836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9684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Session 2 — Administration &amp; Production (J4–J6)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1248" y="4361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Slides 20–23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749808"/>
            <a:ext cx="4297680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749808"/>
            <a:ext cx="457200" cy="6583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74980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21808" y="841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Session 3 — Debezium, CDC &amp; Projet Final (J7–J9)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21808" y="11430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Slides 24–27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1554480"/>
            <a:ext cx="4297680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1554480"/>
            <a:ext cx="457200" cy="658368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5544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21808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Cas d'usage industriels &amp; REX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21808" y="19476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Slides 28–31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2359152"/>
            <a:ext cx="4297680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2359152"/>
            <a:ext cx="457200" cy="658368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35915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21808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Choix d'architecture &amp; Solutions complémentaires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21808" y="27523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Slides 32–35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54880" y="3163824"/>
            <a:ext cx="4297680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3163824"/>
            <a:ext cx="457200" cy="65836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1638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21808" y="3255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Métriques, Tips &amp; Best Practices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321808" y="35570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Slides 36–38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54880" y="3968496"/>
            <a:ext cx="4297680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54880" y="3968496"/>
            <a:ext cx="457200" cy="6583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9684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21808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Livrables, Certification &amp; Conclusion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321808" y="4361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Slides 39–40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Apache Kafka de A à Z — Formation 9 jours intensifs · Développement, Architecture, Administration, Debezium, Certification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31520"/>
            <a:ext cx="2286000" cy="2286000"/>
          </a:xfrm>
          <a:prstGeom prst="ellipse">
            <a:avLst/>
          </a:prstGeom>
          <a:solidFill>
            <a:srgbClr val="2B6CB0">
              <a:alpha val="10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1371600" cy="1371600"/>
          </a:xfrm>
          <a:prstGeom prst="ellipse">
            <a:avLst/>
          </a:prstGeom>
          <a:solidFill>
            <a:srgbClr val="2B6CB0">
              <a:alpha val="15000"/>
            </a:srgbClr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6CB0"/>
                </a:solidFill>
              </a:rPr>
              <a:t>01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7772400" cy="36576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A3F"/>
                </a:solidFill>
              </a:rPr>
              <a:t>Contexte &amp; État de l'art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Pourquoi Apache Kafka est devenu le standard du streaming de données en 2025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Apache Kafka en chiffres — État de l'art 2025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01 / CONTEXTE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1627632" cy="1371600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77240"/>
            <a:ext cx="1627632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6868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6CB0"/>
                </a:solidFill>
              </a:rPr>
              <a:t>80%+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01752" y="1600200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des Fortune 100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utilisent Kafka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65960" y="777240"/>
            <a:ext cx="1627632" cy="1371600"/>
          </a:xfrm>
          <a:prstGeom prst="rect">
            <a:avLst/>
          </a:prstGeom>
          <a:solidFill>
            <a:srgbClr val="E6FFFA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777240"/>
            <a:ext cx="1627632" cy="4572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86868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94A2"/>
                </a:solidFill>
              </a:rPr>
              <a:t>7M+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039112" y="1600200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messages/seconde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par cluster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03320" y="777240"/>
            <a:ext cx="1627632" cy="1371600"/>
          </a:xfrm>
          <a:prstGeom prst="rect">
            <a:avLst/>
          </a:prstGeom>
          <a:solidFill>
            <a:srgbClr val="C6F6D5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777240"/>
            <a:ext cx="1627632" cy="4572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86868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6749"/>
                </a:solidFill>
              </a:rPr>
              <a:t>&lt; 5ms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76472" y="1600200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latence P99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en production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40680" y="777240"/>
            <a:ext cx="1627632" cy="1371600"/>
          </a:xfrm>
          <a:prstGeom prst="rect">
            <a:avLst/>
          </a:prstGeom>
          <a:solidFill>
            <a:srgbClr val="E9D8FD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777240"/>
            <a:ext cx="1627632" cy="4572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86868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53C9A"/>
                </a:solidFill>
              </a:rPr>
              <a:t>1M+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513832" y="1600200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déploiements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estimés mondial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78040" y="777240"/>
            <a:ext cx="1627632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777240"/>
            <a:ext cx="1627632" cy="4572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86868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9E2E"/>
                </a:solidFill>
              </a:rPr>
              <a:t>~35%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51192" y="1600200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part de marché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streaming data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23317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F"/>
                </a:solidFill>
              </a:rPr>
              <a:t>Pourquoi Kafka domine l'écosystème streaming 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2633472"/>
            <a:ext cx="85953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78892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862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🔁  Log distribué immuable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3172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Chaque message est persisté sur disque — rejoue à tout moment, résilience totale aux pannes.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78892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862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📈  Scalabilité horizontale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3172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Ajout de brokers à chaud sans interruption. Parallélisme via partitions.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8404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913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⚡  Faible latence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11480" y="4224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Architecture zéro-copie (zero-copy) — lecture directe page cache OS. Throughput record.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8404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913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🔌  Écosystème riche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00600" y="4224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Kafka Streams, Connect, ksqlDB, Schema Registry, Debezium — une plateforme complète.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Sources : Confluent State of Data Streaming 2024 · Kafka Summit reports · Apache Kafka project statistics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Kafka vs Solutions concurrentes — Comparatif 2025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01 / CONTEXTE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13232"/>
          <a:ext cx="8595360" cy="397764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554480"/>
                <a:gridCol w="1554480"/>
                <a:gridCol w="1554480"/>
              </a:tblGrid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Apache Kafka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RabbitMQ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Apache Pulsar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AWS Kinesis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Modèle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6CB0"/>
                          </a:solidFill>
                        </a:rPr>
                        <a:t>Log distribué partitionné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Queue AMQP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Log + Queue natif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Log managé cloud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Throughput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6CB0"/>
                          </a:solidFill>
                        </a:rPr>
                        <a:t>Très élevé (7M+ msg/s)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Moyen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Élevé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Élevé (limité)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Latence P99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6CB0"/>
                          </a:solidFill>
                        </a:rPr>
                        <a:t>&lt; 5ms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&lt; 1ms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&lt; 5ms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~200ms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Rétention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6CB0"/>
                          </a:solidFill>
                        </a:rPr>
                        <a:t>Configurable (illimitée)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Jusqu'à ack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Configurable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7 jours max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Réplication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6CB0"/>
                          </a:solidFill>
                        </a:rPr>
                        <a:t>Multi-broker natif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Mirroring manuel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Native BookKeeper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Managé AWS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Open Source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6CB0"/>
                          </a:solidFill>
                        </a:rPr>
                        <a:t>✔ Apache License 2.0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✔ Mozilla Public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✔ Apache License 2.0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✗ Propriétaire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Maturité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6CB0"/>
                          </a:solidFill>
                        </a:rPr>
                        <a:t>Très mature (2011)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Très mature (2007)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Mature (2016)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Mature (2016)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Streaming SQL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6CB0"/>
                          </a:solidFill>
                        </a:rPr>
                        <a:t>ksqlDB natif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Non natif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Pulsar SQL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Kinesis Analytics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Kafka reste le choix n°1 pour le streaming à haute volumétrie, la durabilité et l'intégration ecosystème étendu.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Tendances Kafka 2024–2026 — Roadmap &amp; évolutions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01 / CONTEXTE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749808"/>
          </a:xfrm>
          <a:prstGeom prst="rect">
            <a:avLst/>
          </a:prstGeom>
          <a:solidFill>
            <a:srgbClr val="EBF4FF"/>
          </a:solidFill>
          <a:ln w="9525">
            <a:solidFill>
              <a:srgbClr val="2B6CB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05256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KRaft GA — Architecture sans ZooKeeper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113385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Kafka 3.3+ : suppression définitive de ZooKeeper. Métadonnées intégrées aux brokers via Raft consensus. Démarrage 2× plus rapide, support jusqu'à 10 millions de partitions par cluster.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" y="1572768"/>
            <a:ext cx="8595360" cy="749808"/>
          </a:xfrm>
          <a:prstGeom prst="rect">
            <a:avLst/>
          </a:prstGeom>
          <a:solidFill>
            <a:srgbClr val="E6FFFA"/>
          </a:solidFill>
          <a:ln w="9525">
            <a:solidFill>
              <a:srgbClr val="0694A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28216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1645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94A2"/>
                </a:solidFill>
              </a:rPr>
              <a:t>Kafka Cloud-Native &amp; Serverless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05840" y="195681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Confluent Cloud, MSK Serverless, Azure Event Hubs. Tiered Storage : offload des données froides vers S3/GCS. Réduction du coût disque broker de 80%+.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74320" y="2395728"/>
            <a:ext cx="8595360" cy="749808"/>
          </a:xfrm>
          <a:prstGeom prst="rect">
            <a:avLst/>
          </a:prstGeom>
          <a:solidFill>
            <a:srgbClr val="E9D8FD"/>
          </a:solidFill>
          <a:ln w="9525">
            <a:solidFill>
              <a:srgbClr val="553C9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51176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2468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3C9A"/>
                </a:solidFill>
              </a:rPr>
              <a:t>Kafka + Apache Flink — Convergence Batch/Stream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005840" y="277977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Confluent intègre Flink nativement (2024). Kafka comme backbone universel alimentant les moteurs de traitement complexes. Remplacement progressif des jobs Spark batch.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74320" y="3218688"/>
            <a:ext cx="8595360" cy="749808"/>
          </a:xfrm>
          <a:prstGeom prst="rect">
            <a:avLst/>
          </a:prstGeom>
          <a:solidFill>
            <a:srgbClr val="FEF3C7"/>
          </a:solidFill>
          <a:ln w="9525">
            <a:solidFill>
              <a:srgbClr val="D69E2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74136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5840" y="3291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</a:rPr>
              <a:t>IA &amp; Event-Driven Machine Learning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005840" y="360273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Feature stores temps réel, serving de modèles ML piloté par événements Kafka. Adoption massive en fintech, e-commerce, télécoms. Kafka comme colonne vertébrale des pipelines MLOps.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274320" y="4041648"/>
            <a:ext cx="8595360" cy="749808"/>
          </a:xfrm>
          <a:prstGeom prst="rect">
            <a:avLst/>
          </a:prstGeom>
          <a:solidFill>
            <a:srgbClr val="C6F6D5"/>
          </a:solidFill>
          <a:ln w="9525">
            <a:solidFill>
              <a:srgbClr val="276749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97096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4114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Debezium &amp; CDC — Standard de l'intégration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1005840" y="442569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Debezium 2.x : support étendu (Oracle, MongoDB, Cassandra). CDC devient le pattern dominant pour l'intégration temps réel, remplaçant les ETL batch dans les architectures modernes.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Kafka Summit 2024 · Confluent Blog · Apache Kafka 3.7 Release Notes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31520"/>
            <a:ext cx="2286000" cy="2286000"/>
          </a:xfrm>
          <a:prstGeom prst="ellipse">
            <a:avLst/>
          </a:prstGeom>
          <a:solidFill>
            <a:srgbClr val="2B6CB0">
              <a:alpha val="10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1371600" cy="1371600"/>
          </a:xfrm>
          <a:prstGeom prst="ellipse">
            <a:avLst/>
          </a:prstGeom>
          <a:solidFill>
            <a:srgbClr val="2B6CB0">
              <a:alpha val="15000"/>
            </a:srgbClr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6CB0"/>
                </a:solidFill>
              </a:rPr>
              <a:t>02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7772400" cy="36576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A3F"/>
                </a:solidFill>
              </a:rPr>
              <a:t>Concepts fondamentaux &amp; Architecture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Du modèle log distribué aux patterns event-driven avancés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Définitions essentielles Apache Kafka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02 / CONCEPTS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4297680" cy="85953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31520"/>
            <a:ext cx="1051560" cy="859536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31520"/>
            <a:ext cx="1051560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Broker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17320" y="822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Serveur Kafka stockant et distribuant les messages. Un cluster contient généralement 3 brokers minimum en production.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773936"/>
            <a:ext cx="4297680" cy="85953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73936"/>
            <a:ext cx="1051560" cy="859536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73936"/>
            <a:ext cx="1051560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Topic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17320" y="186537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Canal de publication nommé. Divisé en partitions pour la scalabilité. Durée de rétention configurable (heures, jours, taille).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816352"/>
            <a:ext cx="4297680" cy="85953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816352"/>
            <a:ext cx="1051560" cy="859536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816352"/>
            <a:ext cx="1051560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Partition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17320" y="2907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Unité de parallélisme et de scalabilité. Log ordonné et immuable. Chaque partition a un leader et des followers (ISR).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858768"/>
            <a:ext cx="4297680" cy="85953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58768"/>
            <a:ext cx="1051560" cy="859536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858768"/>
            <a:ext cx="1051560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Offset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17320" y="39502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Identifiant unique et séquentiel d'un message dans une partition. Permet le rejoue exact depuis n'importe quel point.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6592" y="731520"/>
            <a:ext cx="4297680" cy="85953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6592" y="731520"/>
            <a:ext cx="1051560" cy="859536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731520"/>
            <a:ext cx="1051560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Producer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79592" y="822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Application qui publie des messages dans un topic. Contrôle la clé de partitionnement, les acks et la sérialisation.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1773936"/>
            <a:ext cx="4297680" cy="85953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1773936"/>
            <a:ext cx="1051560" cy="859536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773936"/>
            <a:ext cx="1051560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Consumer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79592" y="186537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Application qui lit les messages. Gère son propre offset — consommation at-least-once ou exactly-once configurable.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36592" y="2816352"/>
            <a:ext cx="4297680" cy="85953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592" y="2816352"/>
            <a:ext cx="1051560" cy="859536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816352"/>
            <a:ext cx="1051560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Consumer Group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79592" y="2907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Ensemble de consumers partageant la charge d'un topic. 1 partition = 1 consumer max par groupe. Rebalancing automatique.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3858768"/>
            <a:ext cx="4297680" cy="85953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6592" y="3858768"/>
            <a:ext cx="1051560" cy="859536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3858768"/>
            <a:ext cx="1051560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Replication Factor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79592" y="39502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Nombre de copies de chaque partition. RF=3 standard en production. ISR (In-Sync Replicas) garantit la durabilité des données.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Ces 8 concepts sont le socle de toute architecture Kafka — maîtrisés en profondeur dès le Jour 1.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Architecture Kafka — Vue d'ensemble cluster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02 / CONCEPTS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749808"/>
            <a:ext cx="1828800" cy="3520440"/>
          </a:xfrm>
          <a:prstGeom prst="rect">
            <a:avLst/>
          </a:prstGeom>
          <a:solidFill>
            <a:srgbClr val="EBF4FF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749808"/>
            <a:ext cx="1828800" cy="32918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7498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" y="1170432"/>
            <a:ext cx="16093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17043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App Java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" y="1645920"/>
            <a:ext cx="16093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64592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App Python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" y="2121408"/>
            <a:ext cx="16093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12140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Microservice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" y="2596896"/>
            <a:ext cx="16093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59689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IoT Device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" y="3072384"/>
            <a:ext cx="16093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07238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Log shipper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14600" y="658368"/>
            <a:ext cx="4114800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658368"/>
            <a:ext cx="41148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658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KAFKA CLUSTER (KRaft — 3 brokers)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51760" y="1115568"/>
            <a:ext cx="1170432" cy="713232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1115568"/>
            <a:ext cx="1170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6CB0"/>
                </a:solidFill>
              </a:rPr>
              <a:t>Broker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B6CB0"/>
                </a:solidFill>
              </a:rPr>
              <a:t>(Leader)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959352" y="1115568"/>
            <a:ext cx="1170432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59352" y="1115568"/>
            <a:ext cx="1170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Broker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(Follower)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66944" y="1115568"/>
            <a:ext cx="1170432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944" y="1115568"/>
            <a:ext cx="1170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Broker 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(Follower)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06040" y="19385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A3F"/>
                </a:solidFill>
              </a:rPr>
              <a:t>Topics &amp; Partitions (Replication Factor = 3)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33472" y="2231136"/>
            <a:ext cx="3886200" cy="384048"/>
          </a:xfrm>
          <a:prstGeom prst="rect">
            <a:avLst/>
          </a:prstGeom>
          <a:solidFill>
            <a:srgbClr val="EB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22311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6CB0"/>
                </a:solidFill>
              </a:rPr>
              <a:t>orders (P0, P1, P2) — RF=3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33472" y="2724912"/>
            <a:ext cx="3886200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272491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events (P0, P1) — RF=3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33472" y="3218688"/>
            <a:ext cx="3886200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33472" y="32186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dlq (P0) — RF=2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17520" y="3749040"/>
            <a:ext cx="329184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0" y="3749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9E2E"/>
                </a:solidFill>
              </a:rPr>
              <a:t>Schema Registry  (Avro / JSON Schema / Protobuf)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32320" y="749808"/>
            <a:ext cx="1828800" cy="3520440"/>
          </a:xfrm>
          <a:prstGeom prst="rect">
            <a:avLst/>
          </a:prstGeom>
          <a:solidFill>
            <a:srgbClr val="C6F6D5"/>
          </a:solidFill>
          <a:ln w="9525">
            <a:solidFill>
              <a:srgbClr val="2767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0" y="749808"/>
            <a:ext cx="1828800" cy="32918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7498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CONSUMERS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42048" y="1170432"/>
            <a:ext cx="16093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42048" y="117043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App Java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42048" y="1645920"/>
            <a:ext cx="16093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42048" y="164592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App Python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42048" y="2121408"/>
            <a:ext cx="16093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42048" y="212140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Elasticsearch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42048" y="2596896"/>
            <a:ext cx="16093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42048" y="259689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Data Lake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42048" y="3072384"/>
            <a:ext cx="16093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07238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Dashboard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029968" y="228600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</a:rPr>
              <a:t>→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647688" y="228600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749"/>
                </a:solidFill>
              </a:rPr>
              <a:t>→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Un cluster Kafka minimal en production : 3 brokers · RF=3 · min.insync.replicas=2 · Schema Registry · Kafka Connect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KRaft — L'architecture Kafka sans ZooKeeper (Kafka 3.3+)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02 / CONCEPTS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4114800" cy="4041648"/>
          </a:xfrm>
          <a:prstGeom prst="rect">
            <a:avLst/>
          </a:prstGeom>
          <a:solidFill>
            <a:srgbClr val="FED7D7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31520"/>
            <a:ext cx="4114800" cy="38404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315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AVANT — Mode ZooKeeper (&lt; Kafka 3.3)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234440"/>
            <a:ext cx="38404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34440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3030"/>
                </a:solidFill>
              </a:rPr>
              <a:t>✗  ZooKeeper cluster séparé obligatoire (3 nœuds minimum)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673352"/>
            <a:ext cx="38404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73352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3030"/>
                </a:solidFill>
              </a:rPr>
              <a:t>✗  2 systèmes distincts à opérer, monitorer et sécuriser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112264"/>
            <a:ext cx="38404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12264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3030"/>
                </a:solidFill>
              </a:rPr>
              <a:t>✗  Rolling restart complexe — downtime risqué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551176"/>
            <a:ext cx="38404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51176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3030"/>
                </a:solidFill>
              </a:rPr>
              <a:t>✗  Limite pratique : ~200 000 partitions par cluster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990088"/>
            <a:ext cx="38404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90088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3030"/>
                </a:solidFill>
              </a:rPr>
              <a:t>✗  Latence metadata élevée (passage par ZK)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429000"/>
            <a:ext cx="38404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29000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3030"/>
                </a:solidFill>
              </a:rPr>
              <a:t>✗  Dépendance externe critique — point de défaillance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867912"/>
            <a:ext cx="38404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67912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3030"/>
                </a:solidFill>
              </a:rPr>
              <a:t>✗  Configuration double (Kafka + ZooKeeper)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731520"/>
            <a:ext cx="4114800" cy="4041648"/>
          </a:xfrm>
          <a:prstGeom prst="rect">
            <a:avLst/>
          </a:prstGeom>
          <a:solidFill>
            <a:srgbClr val="C6F6D5"/>
          </a:solidFill>
          <a:ln w="9525">
            <a:solidFill>
              <a:srgbClr val="2767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731520"/>
            <a:ext cx="4114800" cy="38404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7315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APRÈS — Mode KRaft (Kafka 3.3+ GA)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1234440"/>
            <a:ext cx="38404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234440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✔  Métadonnées intégrées dans les brokers (quorum interne)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92040" y="1673352"/>
            <a:ext cx="38404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673352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✔  1 seul système à opérer — ops simplifiées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2112264"/>
            <a:ext cx="38404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112264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✔  Démarrage et rolling restart 2× plus rapides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2551176"/>
            <a:ext cx="38404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551176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✔  Support jusqu'à 10 millions de partitions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92040" y="2990088"/>
            <a:ext cx="38404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990088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✔  Latence metadata réduite à &lt; 10ms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92040" y="3429000"/>
            <a:ext cx="38404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429000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✔  Architecture auto-suffisante et résiliente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3867912"/>
            <a:ext cx="38404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867912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✔  Configuration unifiée — un seul fichier server.properties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KRaft est le mode par défaut depuis Kafka 3.4 · Migration possible depuis ZooKeeper via kafka-storage.sh · ZooKeeper supprimé en Kafka 4.0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L'écosystème Kafka — Streams, ksqlDB &amp; Connect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02 / CONCEPTS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2834640" cy="4160520"/>
          </a:xfrm>
          <a:prstGeom prst="rect">
            <a:avLst/>
          </a:prstGeom>
          <a:solidFill>
            <a:srgbClr val="EBF4FF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31520"/>
            <a:ext cx="2834640" cy="36576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8686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13898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6CB0"/>
                </a:solidFill>
              </a:rPr>
              <a:t>Kafka Streams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1719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Bibliothèque Java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1480" y="2011680"/>
            <a:ext cx="2560320" cy="27432"/>
          </a:xfrm>
          <a:prstGeom prst="rect">
            <a:avLst/>
          </a:prstGeom>
          <a:solidFill>
            <a:srgbClr val="2B6CB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2103120"/>
            <a:ext cx="25054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Traitement de flux intégré à l'application — aucun cluster externe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KStream (flux continu) + KTable (état agrégé)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Fenêtres : tumbling, hopping, session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Jointures, agrégations, enrichissements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Scalabilité via partitions Kafka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Idéal : enrichissement, alerting, agrégation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54680" y="731520"/>
            <a:ext cx="2834640" cy="4160520"/>
          </a:xfrm>
          <a:prstGeom prst="rect">
            <a:avLst/>
          </a:prstGeom>
          <a:solidFill>
            <a:srgbClr val="FEF3C7"/>
          </a:solidFill>
          <a:ln w="9525">
            <a:solidFill>
              <a:srgbClr val="D69E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4680" y="731520"/>
            <a:ext cx="2834640" cy="36576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8686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54680" y="13898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9E2E"/>
                </a:solidFill>
              </a:rPr>
              <a:t>ksqlDB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154680" y="1719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SQL sur Kafka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291840" y="2011680"/>
            <a:ext cx="2560320" cy="27432"/>
          </a:xfrm>
          <a:prstGeom prst="rect">
            <a:avLst/>
          </a:prstGeom>
          <a:solidFill>
            <a:srgbClr val="D69E2E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19272" y="2103120"/>
            <a:ext cx="25054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Interface SQL déclarative sur Kafka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Requêtes persistantes push &amp; pull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Streams matérialisés en tables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REST API + JDBC driver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Idéal : analytics temps réel, dashboards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Remplacement des requêtes Elasticsearch simples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035040" y="731520"/>
            <a:ext cx="2834640" cy="4160520"/>
          </a:xfrm>
          <a:prstGeom prst="rect">
            <a:avLst/>
          </a:prstGeom>
          <a:solidFill>
            <a:srgbClr val="C6F6D5"/>
          </a:solidFill>
          <a:ln w="9525">
            <a:solidFill>
              <a:srgbClr val="27674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35040" y="731520"/>
            <a:ext cx="2834640" cy="36576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8686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35040" y="13898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6749"/>
                </a:solidFill>
              </a:rPr>
              <a:t>Kafka Connect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035040" y="1719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Intégration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172200" y="2011680"/>
            <a:ext cx="2560320" cy="27432"/>
          </a:xfrm>
          <a:prstGeom prst="rect">
            <a:avLst/>
          </a:prstGeom>
          <a:solidFill>
            <a:srgbClr val="276749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199632" y="2103120"/>
            <a:ext cx="25054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Source Connector : DB/fichiers → Kafka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Sink Connector : Kafka → DB/ES/S3/GCS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120+ connecteurs disponibles (Confluent Hub)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Schema management, SMT (Single Message Transform)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Mode standalone ou distribué (cluster)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Exactly-once delivery configurable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Ces 3 composants forment la triade de traitement Kafka · Couverts en profondeur : Streams au J3, Connect au J3 &amp; J7, ksqlDB au J3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Patterns d'architecture Event-Driven avec Kafka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02 / CONCEPTS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79392" cy="1234440"/>
          </a:xfrm>
          <a:prstGeom prst="rect">
            <a:avLst/>
          </a:prstGeom>
          <a:solidFill>
            <a:srgbClr val="EBF4FF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54864" cy="12344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Event Sourcing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L'état de l'application = séquence d'événements immuables. Kafka comme source de vérité unique. Replay historique à tout moment. Audit log natif.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167128"/>
            <a:ext cx="4279392" cy="1234440"/>
          </a:xfrm>
          <a:prstGeom prst="rect">
            <a:avLst/>
          </a:prstGeom>
          <a:solidFill>
            <a:srgbClr val="E6FFFA"/>
          </a:solidFill>
          <a:ln w="9525">
            <a:solidFill>
              <a:srgbClr val="0694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67128"/>
            <a:ext cx="54864" cy="123444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94A2"/>
                </a:solidFill>
              </a:rPr>
              <a:t>CQRS + Kafka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58775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Séparation Command (écriture) / Query (lecture). Les commandes produisent des événements Kafka. Les queries lisent les projections matérialisées via KTable ou Elasticsearch.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4279392" cy="1234440"/>
          </a:xfrm>
          <a:prstGeom prst="rect">
            <a:avLst/>
          </a:prstGeom>
          <a:solidFill>
            <a:srgbClr val="FEF3C7"/>
          </a:solidFill>
          <a:ln w="9525">
            <a:solidFill>
              <a:srgbClr val="D69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584448"/>
            <a:ext cx="54864" cy="123444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</a:rPr>
              <a:t>Saga Pattern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0507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Transactions distribuées via orchestration d'événements. Chaque microservice publie succès/échec. Compensation automatique — résistant aux pannes réseau.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36592" y="749808"/>
            <a:ext cx="4279392" cy="1234440"/>
          </a:xfrm>
          <a:prstGeom prst="rect">
            <a:avLst/>
          </a:prstGeom>
          <a:solidFill>
            <a:srgbClr val="C6F6D5"/>
          </a:solidFill>
          <a:ln w="9525">
            <a:solidFill>
              <a:srgbClr val="2767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6592" y="749808"/>
            <a:ext cx="54864" cy="12344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Outbox Pattern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117043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Garantie de livraison entre DB et Kafka. L'application écrit dans une table outbox. Debezium capture via CDC et publie dans Kafka — zéro perte garantie.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36592" y="2167128"/>
            <a:ext cx="4279392" cy="1234440"/>
          </a:xfrm>
          <a:prstGeom prst="rect">
            <a:avLst/>
          </a:prstGeom>
          <a:solidFill>
            <a:srgbClr val="E9D8FD"/>
          </a:solidFill>
          <a:ln w="9525">
            <a:solidFill>
              <a:srgbClr val="553C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6592" y="2167128"/>
            <a:ext cx="54864" cy="123444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258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3C9A"/>
                </a:solidFill>
              </a:rPr>
              <a:t>Stream-Table Join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258775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Enrichissement temps réel d'un flux d'événements avec une KTable de référence. Ex : ajout des infos client à chaque commande. Jointure en O(1) via state store.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36592" y="3584448"/>
            <a:ext cx="4279392" cy="1234440"/>
          </a:xfrm>
          <a:prstGeom prst="rect">
            <a:avLst/>
          </a:prstGeom>
          <a:solidFill>
            <a:srgbClr val="FEEBC8"/>
          </a:solidFill>
          <a:ln w="9525">
            <a:solidFill>
              <a:srgbClr val="C0562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3584448"/>
            <a:ext cx="54864" cy="123444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621"/>
                </a:solidFill>
              </a:rPr>
              <a:t>Fan-out / Fan-in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400507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Fan-out : 1 topic → N consumer groups indépendants (broadcast isolé). Fan-in : N producers → 1 topic agrégé. Découplage total des équipes productrices/consommatrices.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Ces patterns sont couverts en TP fil rouge · Event Sourcing &amp; Outbox Pattern approfondis lors des sessions Debezium (J7–J8)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31520"/>
            <a:ext cx="2286000" cy="2286000"/>
          </a:xfrm>
          <a:prstGeom prst="ellipse">
            <a:avLst/>
          </a:prstGeom>
          <a:solidFill>
            <a:srgbClr val="1E3A5F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1371600" cy="1371600"/>
          </a:xfrm>
          <a:prstGeom prst="ellipse">
            <a:avLst/>
          </a:prstGeom>
          <a:solidFill>
            <a:srgbClr val="1E3A5F">
              <a:alpha val="1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3A5F"/>
                </a:solidFill>
              </a:rPr>
              <a:t>03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77724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A3F"/>
                </a:solidFill>
              </a:rPr>
              <a:t>Programme — Feuille de route 9 jours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Progression Development → Administration → Data Engineering · 40% théorie · 60% pratique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Vue globale — Les 9 jours de formation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03 / PROGRAMME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01168" y="731520"/>
            <a:ext cx="2816352" cy="4133088"/>
          </a:xfrm>
          <a:prstGeom prst="rect">
            <a:avLst/>
          </a:prstGeom>
          <a:solidFill>
            <a:srgbClr val="EBF4FF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731520"/>
            <a:ext cx="2816352" cy="38404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31520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SESSION 1 — J1 à J3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" y="932688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Développement &amp; Architecture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0896" y="1234440"/>
            <a:ext cx="2596896" cy="256032"/>
          </a:xfrm>
          <a:prstGeom prst="rect">
            <a:avLst/>
          </a:prstGeom>
          <a:solidFill>
            <a:srgbClr val="2B6CB0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123444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3F"/>
                </a:solidFill>
              </a:rPr>
              <a:t>Jour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" y="1527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CB0"/>
                </a:solidFill>
              </a:rPr>
              <a:t>Fondations &amp; Architecture Kafka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" y="1856232"/>
            <a:ext cx="50749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1856232"/>
            <a:ext cx="5074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6CB0"/>
                </a:solidFill>
              </a:rPr>
              <a:t>KRaft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891540" y="1856232"/>
            <a:ext cx="57607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" y="1856232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6CB0"/>
                </a:solidFill>
              </a:rPr>
              <a:t>Topics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22476" y="1856232"/>
            <a:ext cx="37033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2476" y="1856232"/>
            <a:ext cx="3703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6CB0"/>
                </a:solidFill>
              </a:rPr>
              <a:t>CLI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10896" y="2404872"/>
            <a:ext cx="2596896" cy="256032"/>
          </a:xfrm>
          <a:prstGeom prst="rect">
            <a:avLst/>
          </a:prstGeom>
          <a:solidFill>
            <a:srgbClr val="2B6CB0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240487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3F"/>
                </a:solidFill>
              </a:rPr>
              <a:t>Jour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CB0"/>
                </a:solidFill>
              </a:rPr>
              <a:t>Développement Java &amp; Python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" y="3026664"/>
            <a:ext cx="98755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302666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6CB0"/>
                </a:solidFill>
              </a:rPr>
              <a:t>Producer API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371600" y="3026664"/>
            <a:ext cx="98755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302666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6CB0"/>
                </a:solidFill>
              </a:rPr>
              <a:t>Consumer API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414016" y="3026664"/>
            <a:ext cx="43891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14016" y="30266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6CB0"/>
                </a:solidFill>
              </a:rPr>
              <a:t>JSON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10896" y="3575304"/>
            <a:ext cx="2596896" cy="256032"/>
          </a:xfrm>
          <a:prstGeom prst="rect">
            <a:avLst/>
          </a:prstGeom>
          <a:solidFill>
            <a:srgbClr val="2B6CB0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" y="357530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3F"/>
                </a:solidFill>
              </a:rPr>
              <a:t>Jour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" y="3867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CB0"/>
                </a:solidFill>
              </a:rPr>
              <a:t>Kafka Streams &amp; Connect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" y="4197096"/>
            <a:ext cx="64465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" y="4197096"/>
            <a:ext cx="6446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6CB0"/>
                </a:solidFill>
              </a:rPr>
              <a:t>KStream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028700" y="4197096"/>
            <a:ext cx="57607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8700" y="4197096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6CB0"/>
                </a:solidFill>
              </a:rPr>
              <a:t>KTable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1659636" y="4197096"/>
            <a:ext cx="57607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59636" y="4197096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6CB0"/>
                </a:solidFill>
              </a:rPr>
              <a:t>ksqlDB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145536" y="731520"/>
            <a:ext cx="2816352" cy="4133088"/>
          </a:xfrm>
          <a:prstGeom prst="rect">
            <a:avLst/>
          </a:prstGeom>
          <a:solidFill>
            <a:srgbClr val="FEF3C7"/>
          </a:solidFill>
          <a:ln w="9525">
            <a:solidFill>
              <a:srgbClr val="D69E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45536" y="731520"/>
            <a:ext cx="2816352" cy="38404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45536" y="731520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SESSION 2 — J4 à J6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145536" y="932688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Administration &amp; Production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55264" y="1234440"/>
            <a:ext cx="2596896" cy="256032"/>
          </a:xfrm>
          <a:prstGeom prst="rect">
            <a:avLst/>
          </a:prstGeom>
          <a:solidFill>
            <a:srgbClr val="D69E2E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55264" y="123444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3F"/>
                </a:solidFill>
              </a:rPr>
              <a:t>Jour 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73552" y="1527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</a:rPr>
              <a:t>Administration Cluster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73552" y="1856232"/>
            <a:ext cx="50749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73552" y="1856232"/>
            <a:ext cx="5074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69E2E"/>
                </a:solidFill>
              </a:rPr>
              <a:t>KRaft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835908" y="1856232"/>
            <a:ext cx="37033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35908" y="1856232"/>
            <a:ext cx="3703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69E2E"/>
                </a:solidFill>
              </a:rPr>
              <a:t>ISR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261104" y="1856232"/>
            <a:ext cx="91897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61104" y="1856232"/>
            <a:ext cx="91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69E2E"/>
                </a:solidFill>
              </a:rPr>
              <a:t>Réplication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5234940" y="1856232"/>
            <a:ext cx="64465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34940" y="1856232"/>
            <a:ext cx="6446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69E2E"/>
                </a:solidFill>
              </a:rPr>
              <a:t>Leaders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3255264" y="2404872"/>
            <a:ext cx="2596896" cy="256032"/>
          </a:xfrm>
          <a:prstGeom prst="rect">
            <a:avLst/>
          </a:prstGeom>
          <a:solidFill>
            <a:srgbClr val="D69E2E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55264" y="240487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3F"/>
                </a:solidFill>
              </a:rPr>
              <a:t>Jour 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73552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</a:rPr>
              <a:t>Monitoring &amp; Troubleshooting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73552" y="3026664"/>
            <a:ext cx="85039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73552" y="3026664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69E2E"/>
                </a:solidFill>
              </a:rPr>
              <a:t>Prometheus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4178808" y="3026664"/>
            <a:ext cx="64465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78808" y="3026664"/>
            <a:ext cx="6446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69E2E"/>
                </a:solidFill>
              </a:rPr>
              <a:t>Grafana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878324" y="3026664"/>
            <a:ext cx="98755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78324" y="302666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69E2E"/>
                </a:solidFill>
              </a:rPr>
              <a:t>Consumer Lag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3255264" y="3575304"/>
            <a:ext cx="2596896" cy="256032"/>
          </a:xfrm>
          <a:prstGeom prst="rect">
            <a:avLst/>
          </a:prstGeom>
          <a:solidFill>
            <a:srgbClr val="D69E2E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55264" y="357530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3F"/>
                </a:solidFill>
              </a:rPr>
              <a:t>Jour 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273552" y="3867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</a:rPr>
              <a:t>Performance &amp; Sécurité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73552" y="4197096"/>
            <a:ext cx="71323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73552" y="41970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69E2E"/>
                </a:solidFill>
              </a:rPr>
              <a:t>TLS/SASL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4041648" y="4197096"/>
            <a:ext cx="37033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41648" y="4197096"/>
            <a:ext cx="3703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69E2E"/>
                </a:solidFill>
              </a:rPr>
              <a:t>ACL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466844" y="4197096"/>
            <a:ext cx="78181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66844" y="4197096"/>
            <a:ext cx="7818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69E2E"/>
                </a:solidFill>
              </a:rPr>
              <a:t>Benchmark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5303520" y="4197096"/>
            <a:ext cx="57607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0" y="4197096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69E2E"/>
                </a:solidFill>
              </a:rPr>
              <a:t>Tuning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6089904" y="731520"/>
            <a:ext cx="2816352" cy="4133088"/>
          </a:xfrm>
          <a:prstGeom prst="rect">
            <a:avLst/>
          </a:prstGeom>
          <a:solidFill>
            <a:srgbClr val="C6F6D5"/>
          </a:solidFill>
          <a:ln w="9525">
            <a:solidFill>
              <a:srgbClr val="27674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89904" y="731520"/>
            <a:ext cx="2816352" cy="38404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89904" y="731520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SESSION 3 — J7 à J9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089904" y="932688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Debezium, CDC &amp; Projet Final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199632" y="1234440"/>
            <a:ext cx="2596896" cy="256032"/>
          </a:xfrm>
          <a:prstGeom prst="rect">
            <a:avLst/>
          </a:prstGeom>
          <a:solidFill>
            <a:srgbClr val="276749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99632" y="123444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3F"/>
                </a:solidFill>
              </a:rPr>
              <a:t>Jour 7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217920" y="1527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6749"/>
                </a:solidFill>
              </a:rPr>
              <a:t>Debezium &amp; Change Data Capture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217920" y="1856232"/>
            <a:ext cx="37033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1856232"/>
            <a:ext cx="3703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76749"/>
                </a:solidFill>
              </a:rPr>
              <a:t>CDC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6643116" y="1856232"/>
            <a:ext cx="50749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643116" y="1856232"/>
            <a:ext cx="5074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76749"/>
                </a:solidFill>
              </a:rPr>
              <a:t>MySQL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7205472" y="1856232"/>
            <a:ext cx="85039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05472" y="1856232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76749"/>
                </a:solidFill>
              </a:rPr>
              <a:t>PostgreSQL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6199632" y="2404872"/>
            <a:ext cx="2596896" cy="256032"/>
          </a:xfrm>
          <a:prstGeom prst="rect">
            <a:avLst/>
          </a:prstGeom>
          <a:solidFill>
            <a:srgbClr val="276749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99632" y="240487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3F"/>
                </a:solidFill>
              </a:rPr>
              <a:t>Jour 8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21792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6749"/>
                </a:solidFill>
              </a:rPr>
              <a:t>Streaming Avancé &amp; Fiabilité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217920" y="3026664"/>
            <a:ext cx="98755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17920" y="302666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76749"/>
                </a:solidFill>
              </a:rPr>
              <a:t>Exactly-once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7260336" y="3026664"/>
            <a:ext cx="98755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260336" y="302666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76749"/>
                </a:solidFill>
              </a:rPr>
              <a:t>Transactions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8302752" y="3026664"/>
            <a:ext cx="37033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302752" y="3026664"/>
            <a:ext cx="3703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76749"/>
                </a:solidFill>
              </a:rPr>
              <a:t>DLQ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6199632" y="3575304"/>
            <a:ext cx="2596896" cy="256032"/>
          </a:xfrm>
          <a:prstGeom prst="rect">
            <a:avLst/>
          </a:prstGeom>
          <a:solidFill>
            <a:srgbClr val="276749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199632" y="357530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3F"/>
                </a:solidFill>
              </a:rPr>
              <a:t>Jour 9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217920" y="3867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6749"/>
                </a:solidFill>
              </a:rPr>
              <a:t>Projet Final + Certification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6217920" y="4197096"/>
            <a:ext cx="85039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17920" y="4197096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76749"/>
                </a:solidFill>
              </a:rPr>
              <a:t>End-to-end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7123176" y="4197096"/>
            <a:ext cx="57607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123176" y="4197096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76749"/>
                </a:solidFill>
              </a:rPr>
              <a:t>Kibana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7754112" y="4197096"/>
            <a:ext cx="78181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754112" y="4197096"/>
            <a:ext cx="7818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76749"/>
                </a:solidFill>
              </a:rPr>
              <a:t>CCDAK QCM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1 cluster Kafka par stagiaire · 1 TP par concept clé · 1 projet fil rouge évolutif de J1 à J9 · Mode production mindset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Pédagogie &amp; Livrables de la formation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03 / PROGRAMME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1993392" cy="1965960"/>
          </a:xfrm>
          <a:prstGeom prst="rect">
            <a:avLst/>
          </a:prstGeom>
          <a:solidFill>
            <a:srgbClr val="EBF4FF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1993392" cy="36576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877824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13441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6CB0"/>
                </a:solidFill>
              </a:rPr>
              <a:t>40%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74320" y="18105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Théorie &amp; Concepts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5760" y="210312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Architecture, patterns, REX industriels,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cas d'usage, état de l'art, métriques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450592" y="749808"/>
            <a:ext cx="1993392" cy="1965960"/>
          </a:xfrm>
          <a:prstGeom prst="rect">
            <a:avLst/>
          </a:prstGeom>
          <a:solidFill>
            <a:srgbClr val="E6FFFA"/>
          </a:solidFill>
          <a:ln w="9525">
            <a:solidFill>
              <a:srgbClr val="0694A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50592" y="749808"/>
            <a:ext cx="1993392" cy="36576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877824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50592" y="13441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94A2"/>
                </a:solidFill>
              </a:rPr>
              <a:t>60%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2450592" y="18105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Pratique &amp; TP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542032" y="210312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1 TP par concept · 1 cluster/stagiaire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Monde réel · Production mindset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626864" y="749808"/>
            <a:ext cx="1993392" cy="1965960"/>
          </a:xfrm>
          <a:prstGeom prst="rect">
            <a:avLst/>
          </a:prstGeom>
          <a:solidFill>
            <a:srgbClr val="C6F6D5"/>
          </a:solidFill>
          <a:ln w="9525">
            <a:solidFill>
              <a:srgbClr val="27674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26864" y="749808"/>
            <a:ext cx="1993392" cy="36576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877824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26864" y="13441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6749"/>
                </a:solidFill>
              </a:rPr>
              <a:t>×9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4626864" y="18105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Jours intensifs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718304" y="210312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3 sessions de 3 jours progressives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Dev → Ops → Data Engineering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803136" y="749808"/>
            <a:ext cx="1993392" cy="1965960"/>
          </a:xfrm>
          <a:prstGeom prst="rect">
            <a:avLst/>
          </a:prstGeom>
          <a:solidFill>
            <a:srgbClr val="E9D8FD"/>
          </a:solidFill>
          <a:ln w="9525">
            <a:solidFill>
              <a:srgbClr val="553C9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03136" y="749808"/>
            <a:ext cx="1993392" cy="36576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877824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03136" y="13441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53C9A"/>
                </a:solidFill>
              </a:rPr>
              <a:t>100%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6803136" y="18105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Projet fil rouge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894576" y="210312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Pipeline complet évolutif J1→J9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PostgreSQL → Kafka → Streams → Kibana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274320" y="29077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F"/>
                </a:solidFill>
              </a:rPr>
              <a:t>Livrables à l'issue de la formation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274320" y="3218688"/>
            <a:ext cx="85953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3456432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58368" y="3364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Code source Java + Python (Producer, Consumer, Streams, Connect)</a:t>
            </a:r>
            <a:endParaRPr lang="en-US" sz="10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" y="3959352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58368" y="38679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Pipeline CDC Debezium complet et opérationnel</a:t>
            </a:r>
            <a:endParaRPr lang="en-US" sz="10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" y="4462272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58368" y="4370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Dashboard monitoring Prometheus + Grafana production-ready</a:t>
            </a:r>
            <a:endParaRPr lang="en-US" sz="10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016" y="3456432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065776" y="3364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Architecture Docker Compose end-to-end industrialisable</a:t>
            </a:r>
            <a:endParaRPr lang="en-US" sz="10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0016" y="3959352"/>
            <a:ext cx="256032" cy="25603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065776" y="38679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Simulation certification Confluent CCDAK corrigée</a:t>
            </a:r>
            <a:endParaRPr lang="en-US" sz="10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0016" y="4462272"/>
            <a:ext cx="256032" cy="25603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065776" y="4370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Documentation et notes de cours personnalisées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Tous les livrables sont remis en fin de formation · Code source hébergé sur GitHub privé · Environnement Docker Compose fourni J1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31520"/>
            <a:ext cx="2286000" cy="2286000"/>
          </a:xfrm>
          <a:prstGeom prst="ellipse">
            <a:avLst/>
          </a:prstGeom>
          <a:solidFill>
            <a:srgbClr val="2B6CB0">
              <a:alpha val="10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1371600" cy="1371600"/>
          </a:xfrm>
          <a:prstGeom prst="ellipse">
            <a:avLst/>
          </a:prstGeom>
          <a:solidFill>
            <a:srgbClr val="2B6CB0">
              <a:alpha val="15000"/>
            </a:srgbClr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6CB0"/>
                </a:solidFill>
              </a:rPr>
              <a:t>04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7772400" cy="36576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A3F"/>
                </a:solidFill>
              </a:rPr>
              <a:t>Session 1 — Développement Kafka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Jours 1 à 3 : Fondations, Java/Python, Kafka Streams &amp; Connect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Jour 1 — Fondations Kafka &amp;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04 / SESSION 1 · J1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51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54864" cy="199339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4124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📘  Concepts théoriques du Jour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152144"/>
            <a:ext cx="399592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Event-driven architecture — asynchronisme et découplage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Broker, Topic, Partition, Offset — modèle log distribué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Producer / Consumer — cycle de vie et garanties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KRaft : controller quorum, election, metadata log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Facteur de réplication, ISR, acks=0/1/all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ZooKeeper vs KRaft — comparaison opérationnelle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852928"/>
            <a:ext cx="4251960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852928"/>
            <a:ext cx="54864" cy="1947672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4436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⚙️  TP Jour 1 — Hands-on cluster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3255264"/>
            <a:ext cx="399592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Déploiement cluster 3 brokers via Docker Compose (fourni)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Création de topics avec partitions et réplication configurable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Production et consommation de messages via CLI Kafka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Exploration des offsets, groupes de consommateurs et logs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749808"/>
            <a:ext cx="4114800" cy="4050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749808"/>
            <a:ext cx="54864" cy="405079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84124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🎯  Objectifs &amp; résultats attendus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9472" y="1152144"/>
            <a:ext cx="3858768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Comprendre le modèle log distribué — différence queue vs topic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Déployer un cluster Kafka complet en &lt; 5 minutes (Docker)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Maîtriser la CLI : kafka-topics, kafka-console-producer/consumer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Lire et interpréter les métadonnées d'un cluster (offsets, ISR)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Comprendre l'impact du Replication Factor sur la durabilité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Analyser les logs broker lors d'une partition unreachable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Comprendre KRaft vs ZooKeeper — avantages opérationnels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Créer et configurer un environnement Kafka local complet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Stack J1 : Docker Desktop · Kafka 3.7 (KRaft) · kafka-cli tools · Docker Compose fourni · Kafka UI optionnel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Jour 2 — Développement Java &amp; Python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04 / SESSION 1 · J2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51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54864" cy="20116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4124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☕  Java — Kafka Producer API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152144"/>
            <a:ext cx="399592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KafkaProducer : configuration acks, retries, batch.size, linger.ms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Clé de partitionnement et custom partitioner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Sérialisation : StringSerializer, JsonSerializer, AvroSerializer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Callbacks et RecordMetadata — gestion des erreurs production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Idempotent producer : enable.idempotence=true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871216"/>
            <a:ext cx="42519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871216"/>
            <a:ext cx="54864" cy="1938528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62656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🐍  Python — Kafka Consumer API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3273552"/>
            <a:ext cx="39959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confluent-kafka-python : KafkaConsumer, poll(), close()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Consumer Groups : group.id, rebalancing, assignation partitions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Stratégies de commit : auto-commit vs manuel (at-least-once)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Seek to offset — rejoue d'événements historiques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749808"/>
            <a:ext cx="4114800" cy="4059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749808"/>
            <a:ext cx="54864" cy="4059936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84124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⚙️  TP Jour 2 — Hands-on dev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9472" y="1152144"/>
            <a:ext cx="38587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Producer Java : envoi d'événements métiers (commandes e-commerce)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Consumer Python : traitement + commit manuel après processing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Test de rebalancing : ajout/suppression de consumers en live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Gestion des erreurs et retry logic côté Java producer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Benchmarking simple : mesure du débit et de la latence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Analyse des logs broker lors d'un rebalancing en cours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Sérialisation JSON avec validation de schéma basique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Multi-topic consumer Python avec gestion des offsets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Stack J2 : Java 17 · Maven · confluent-kafka-python · IntelliJ IDEA ou VS Code · Kafka déjà déployé depuis J1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Jour 3 — Kafka Streams &amp; Kafka Connect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04 / SESSION 1 · J3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51960" cy="1993392"/>
          </a:xfrm>
          <a:prstGeom prst="rect">
            <a:avLst/>
          </a:prstGeom>
          <a:solidFill>
            <a:srgbClr val="EBF4FF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54864" cy="199339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4124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</a:rPr>
              <a:t>🌊  Kafka Streams — Fondamentaux Java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152144"/>
            <a:ext cx="399592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KStream : flux continu d'événements (immutable, unbounded)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KTable : état actuel agrégé (changelog compacté)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Opérateurs : map, filter, flatMap, groupBy, aggregate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Fenêtres : tumbling (fixe), hopping (glissant), session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749808"/>
            <a:ext cx="4114800" cy="1993392"/>
          </a:xfrm>
          <a:prstGeom prst="rect">
            <a:avLst/>
          </a:prstGeom>
          <a:solidFill>
            <a:srgbClr val="E6FFFA"/>
          </a:solidFill>
          <a:ln w="9525">
            <a:solidFill>
              <a:srgbClr val="0694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749808"/>
            <a:ext cx="54864" cy="1993392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84124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94A2"/>
                </a:solidFill>
              </a:rPr>
              <a:t>🔌  Kafka Connect — Architecture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19472" y="1152144"/>
            <a:ext cx="385876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Source Connector : DB/fichier → Kafka (avec CDC basique)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Sink Connector : Kafka → DB/ES/S3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Converters, Single Message Transforms (SMT)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Mode standalone vs distribué — REST API management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52928"/>
            <a:ext cx="4251960" cy="1938528"/>
          </a:xfrm>
          <a:prstGeom prst="rect">
            <a:avLst/>
          </a:prstGeom>
          <a:solidFill>
            <a:srgbClr val="FEF3C7"/>
          </a:solidFill>
          <a:ln w="9525">
            <a:solidFill>
              <a:srgbClr val="D69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852928"/>
            <a:ext cx="54864" cy="193852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4436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9E2E"/>
                </a:solidFill>
              </a:rPr>
              <a:t>⚙️  TP Kafka Streams — Java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" y="3255264"/>
            <a:ext cx="39959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Agrégation temps réel (count, sum par clé de commande)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Jointure KStream-KTable (enrichissement commandes + clients)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Fenêtre tumbling 5 min — calcul top ventes en temps réel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Interactive queries : exposition REST de l'état Streams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852928"/>
            <a:ext cx="4114800" cy="1938528"/>
          </a:xfrm>
          <a:prstGeom prst="rect">
            <a:avLst/>
          </a:prstGeom>
          <a:solidFill>
            <a:srgbClr val="C6F6D5"/>
          </a:solidFill>
          <a:ln w="9525">
            <a:solidFill>
              <a:srgbClr val="2767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852928"/>
            <a:ext cx="54864" cy="193852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94436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6749"/>
                </a:solidFill>
              </a:rPr>
              <a:t>📦  TP Kafka Connect — Config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19472" y="3255264"/>
            <a:ext cx="38587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JDBC Source Connector : PostgreSQL → Kafka (config JSON)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Vérification du lag et débit du connecteur via REST API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Introduction ksqlDB : CREATE STREAM, SELECT FROM STREAM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SMT : filtrage et transformation de messages à la volée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Stack J3 : Kafka Streams API (Java) · Kafka Connect REST API · ksqlDB CLI · JDBC Connector · PostgreSQL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31520"/>
            <a:ext cx="2286000" cy="2286000"/>
          </a:xfrm>
          <a:prstGeom prst="ellipse">
            <a:avLst/>
          </a:prstGeom>
          <a:solidFill>
            <a:srgbClr val="D69E2E">
              <a:alpha val="10000"/>
            </a:srgbClr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1371600" cy="1371600"/>
          </a:xfrm>
          <a:prstGeom prst="ellipse">
            <a:avLst/>
          </a:prstGeom>
          <a:solidFill>
            <a:srgbClr val="D69E2E">
              <a:alpha val="15000"/>
            </a:srgbClr>
          </a:solidFill>
          <a:ln w="9525">
            <a:solidFill>
              <a:srgbClr val="D69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D69E2E"/>
                </a:solidFill>
              </a:rPr>
              <a:t>05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7772400" cy="36576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A3F"/>
                </a:solidFill>
              </a:rPr>
              <a:t>Session 2 — Administration &amp; Production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Jours 4 à 6 : Cluster, Monitoring, Performance, Sécurité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Jour 4 — Administration Cluster Kafka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05 / SESSION 2 · J4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51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54864" cy="19933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4124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🏗️  Concepts Administration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152144"/>
            <a:ext cx="399592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KRaft : controller quorum — élection leader metadata via Raft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ISR (In-Sync Replicas) : définition, impact sur durabilité et latence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Partition leadership : preferred leader, réassignation manuelle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Gestion des configs broker dynamiques (kafka-configs.sh)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Log compaction vs rétention par temps/taille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852928"/>
            <a:ext cx="42519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852928"/>
            <a:ext cx="54864" cy="19385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4436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⚙️  TP Admin — Simulation réelle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3255264"/>
            <a:ext cx="39959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Kill -9 d'un broker → observation automatique du basculement leader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Réélection manuelle du leader via CLI (preferred leader election)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Réassignation de partitions entre brokers (kafka-reassign-partitions)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Vérification ISR après retour du broker tombé en ligne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749808"/>
            <a:ext cx="4114800" cy="4059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749808"/>
            <a:ext cx="54864" cy="4059936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84124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📋  Paramètres production critiques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9472" y="1152144"/>
            <a:ext cx="38587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min.insync.replicas=2 avec RF=3 — garantie durabilité absolue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unclean.leader.election.enable=false — évite la perte de données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auto.create.topics.enable=false — contrôle namespace topics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log.retention.hours=168 (7 jours) / log.retention.bytes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num.partitions : dimensionner selon le parallélisme attendu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default.replication.factor=3 — obligatoire en production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message.max.bytes et replica.fetch.max.bytes — cohérence requise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offsets.retention.minutes=10080 (7 jours minimum)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Stack J4 : kafka-topics.sh · kafka-configs.sh · kafka-reassign-partitions.sh · kafka-consumer-groups.sh · kafkacat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Jour 5 — Monitoring &amp; Troubleshooting Kafka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05 / SESSION 2 · J5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F"/>
                </a:solidFill>
              </a:rPr>
              <a:t>Métriques JMX critiques à surveiller en production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4279392" cy="804672"/>
          </a:xfrm>
          <a:prstGeom prst="rect">
            <a:avLst/>
          </a:prstGeom>
          <a:solidFill>
            <a:srgbClr val="FED7D7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15568"/>
            <a:ext cx="54864" cy="80467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70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kafka_consumer_group_lag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14630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Consumer lag par partition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97480" y="14630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</a:rPr>
              <a:t>ALARME si &gt; 1 000 messages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075688"/>
            <a:ext cx="4279392" cy="804672"/>
          </a:xfrm>
          <a:prstGeom prst="rect">
            <a:avLst/>
          </a:prstGeom>
          <a:solidFill>
            <a:srgbClr val="EBF4FF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75688"/>
            <a:ext cx="54864" cy="80467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130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BytesInPerSec / BytesOutPerSec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423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Débit réseau broker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7480" y="24231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</a:rPr>
              <a:t>Capacity planning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035808"/>
            <a:ext cx="4279392" cy="804672"/>
          </a:xfrm>
          <a:prstGeom prst="rect">
            <a:avLst/>
          </a:prstGeom>
          <a:solidFill>
            <a:srgbClr val="FEF3C7"/>
          </a:solidFill>
          <a:ln w="9525">
            <a:solidFill>
              <a:srgbClr val="D69E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35808"/>
            <a:ext cx="54864" cy="80467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RequestHandlerAvgIdlePercent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" y="33832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Charge CPU threads I/O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97480" y="33832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69E2E"/>
                </a:solidFill>
              </a:rPr>
              <a:t>ALARME si &lt; 30%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36592" y="1115568"/>
            <a:ext cx="4279392" cy="804672"/>
          </a:xfrm>
          <a:prstGeom prst="rect">
            <a:avLst/>
          </a:prstGeom>
          <a:solidFill>
            <a:srgbClr val="FED7D7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6592" y="1115568"/>
            <a:ext cx="54864" cy="80467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1170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UnderReplicatedPartitions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01184" y="14630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Partitions hors synchronisation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59752" y="14630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030"/>
                </a:solidFill>
              </a:rPr>
              <a:t>ALARME si &gt; 0 (critique)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36592" y="2075688"/>
            <a:ext cx="4279392" cy="804672"/>
          </a:xfrm>
          <a:prstGeom prst="rect">
            <a:avLst/>
          </a:prstGeom>
          <a:solidFill>
            <a:srgbClr val="C6F6D5"/>
          </a:solidFill>
          <a:ln w="9525">
            <a:solidFill>
              <a:srgbClr val="2767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2075688"/>
            <a:ext cx="54864" cy="80467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2130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7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ActiveControllerCount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01184" y="2423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Nombre de controllers actifs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59752" y="24231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76749"/>
                </a:solidFill>
              </a:rPr>
              <a:t>Doit être = 1 exactement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3035808"/>
            <a:ext cx="4279392" cy="804672"/>
          </a:xfrm>
          <a:prstGeom prst="rect">
            <a:avLst/>
          </a:prstGeom>
          <a:solidFill>
            <a:srgbClr val="E9D8FD"/>
          </a:solidFill>
          <a:ln w="9525">
            <a:solidFill>
              <a:srgbClr val="553C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36592" y="3035808"/>
            <a:ext cx="54864" cy="804672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3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NetworkProcessorAvgIdlePercent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01184" y="33832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Charge threads réseau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59752" y="33832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3C9A"/>
                </a:solidFill>
              </a:rPr>
              <a:t>ALARME si &lt; 30%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4041648"/>
            <a:ext cx="8595360" cy="384048"/>
          </a:xfrm>
          <a:prstGeom prst="rect">
            <a:avLst/>
          </a:prstGeom>
          <a:solidFill>
            <a:srgbClr val="EBF4FF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416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6CB0"/>
                </a:solidFill>
              </a:rPr>
              <a:t>Stack monitoring : Prometheus + Kafka Exporter (danielqsj) + Grafana (dashboards JMX officiels) + Alertmanager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TP J5 : Déploiement Prometheus + Grafana via Docker · Import dashboards Kafka officiels · Analyse lag et debug cluster dégradé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Jour 6 — Performance &amp; Sécurité Kafka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05 / SESSION 2 · J6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51960" cy="1993392"/>
          </a:xfrm>
          <a:prstGeom prst="rect">
            <a:avLst/>
          </a:prstGeom>
          <a:solidFill>
            <a:srgbClr val="EBF4FF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54864" cy="199339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4124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</a:rPr>
              <a:t>⚡  Tuning Performance Producer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152144"/>
            <a:ext cx="399592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batch.size=65536 (défaut 16KB → 64KB recommandé)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linger.ms=5 — attente pour grouper les messages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compression.type=snappy — 60-70% réduction réseau, faible CPU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buffer.memory=67108864 — tampon mémoire producer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852928"/>
            <a:ext cx="4251960" cy="1938528"/>
          </a:xfrm>
          <a:prstGeom prst="rect">
            <a:avLst/>
          </a:prstGeom>
          <a:solidFill>
            <a:srgbClr val="E6FFFA"/>
          </a:solidFill>
          <a:ln w="9525">
            <a:solidFill>
              <a:srgbClr val="0694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852928"/>
            <a:ext cx="54864" cy="1938528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4436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94A2"/>
                </a:solidFill>
              </a:rPr>
              <a:t>⚡  Tuning Performance Consumer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3255264"/>
            <a:ext cx="39959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fetch.min.bytes=1048576 — réduire le nombre de requêtes réseau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fetch.max.wait.ms=500 — équilibre latence/débit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max.partition.fetch.bytes=1MB par partition max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max.poll.records=500 — batch de traitement côté consumer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749808"/>
            <a:ext cx="4114800" cy="4059936"/>
          </a:xfrm>
          <a:prstGeom prst="rect">
            <a:avLst/>
          </a:prstGeom>
          <a:solidFill>
            <a:srgbClr val="1A2A3F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749808"/>
            <a:ext cx="54864" cy="40599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84124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🔒  Sécurité Kafka en production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9472" y="1152144"/>
            <a:ext cx="38587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TLS/SSL : chiffrement en transit — keystore/truststore JKS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SASL/PLAIN : authentification basique (dev/test uniquement)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SASL/SCRAM-SHA-512 : authentification sécurisée (production)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SASL/GSSAPI (Kerberos) : environnements enterprise AD/LDAP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ACL (Access Control Lists) : autorisation par topic/consumer group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Principe du moindre privilège — séparation prod/consumer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Audit logging : traçabilité des accès aux topics critiques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TP : activation TLS + ACL + benchmark 10k+ msg/s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TP J6 : kafka-producer-perf-test.sh · kafka-consumer-perf-test.sh · OpenSSL pour certificats TLS · kafka-acls.sh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31520"/>
            <a:ext cx="2286000" cy="2286000"/>
          </a:xfrm>
          <a:prstGeom prst="ellipse">
            <a:avLst/>
          </a:prstGeom>
          <a:solidFill>
            <a:srgbClr val="276749">
              <a:alpha val="10000"/>
            </a:srgbClr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1371600" cy="1371600"/>
          </a:xfrm>
          <a:prstGeom prst="ellipse">
            <a:avLst/>
          </a:prstGeom>
          <a:solidFill>
            <a:srgbClr val="276749">
              <a:alpha val="15000"/>
            </a:srgbClr>
          </a:solidFill>
          <a:ln w="9525">
            <a:solidFill>
              <a:srgbClr val="2767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76749"/>
                </a:solidFill>
              </a:rPr>
              <a:t>06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7772400" cy="36576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A3F"/>
                </a:solidFill>
              </a:rPr>
              <a:t>Session 3 — Debezium, CDC &amp; Projet Final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Jours 7 à 9 : Change Data Capture, Fiabilité, Pipeline End-to-End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Jour 7 — Debezium &amp; Change Data Capture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06 / SESSION 3 · J7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2011680" cy="914400"/>
          </a:xfrm>
          <a:prstGeom prst="rect">
            <a:avLst/>
          </a:prstGeom>
          <a:solidFill>
            <a:srgbClr val="E9D8FD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498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3C9A"/>
                </a:solidFill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53C9A"/>
                </a:solidFill>
              </a:rPr>
              <a:t>/ MySQL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344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Base source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58568" y="749808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556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60320" y="749808"/>
            <a:ext cx="201168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7498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9E2E"/>
                </a:solidFill>
              </a:rPr>
              <a:t>Debezium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69E2E"/>
                </a:solidFill>
              </a:rPr>
              <a:t>Connector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344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lit le binlog/WAL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90288" y="749808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556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00600" y="749808"/>
            <a:ext cx="2011680" cy="914400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7498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Kafka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Topic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344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dbserver.schema.table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30568" y="749808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556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49440" y="749808"/>
            <a:ext cx="2011680" cy="914400"/>
          </a:xfrm>
          <a:prstGeom prst="rect">
            <a:avLst/>
          </a:prstGeom>
          <a:solidFill>
            <a:srgbClr val="C6F6D5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7498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Consumer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/ Sink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1344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ES · S3 · App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1874520"/>
            <a:ext cx="425196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1874520"/>
            <a:ext cx="54864" cy="217627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196596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📡  Concepts CDC Debezium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3192" y="2276856"/>
            <a:ext cx="399592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Lecture du binlog MySQL ou WAL PostgreSQL — zéro impact applicatif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Event types : c (create), u (update), d (delete), r (snapshot/read)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Before/After image dans chaque événement — historique complet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Schema evolution sans downtime avec Schema Registry + Avro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Snapshot initial : capture de l'état existant au premier démarrage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Exactement-once delivery via Kafka transactions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874520"/>
            <a:ext cx="425196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874520"/>
            <a:ext cx="54864" cy="2176272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196596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⚙️  TP Jour 7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28032" y="2276856"/>
            <a:ext cx="399592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Déploiement Debezium via Kafka Connect (Docker Compose)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Capture d'événements CRUD sur table orders en temps réel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Analyse du format d'événement Debezium (JSON/Avro Schema)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Ajout d'une colonne SQL sans interruption de service (schema evolution)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Test de reprise après coupure — garantie at-least-once vérifiée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Monitoring du connecteur Debezium via REST API Connect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Stack J7 : Debezium 2.x · Kafka Connect · PostgreSQL 14 · MySQL 8 · Schema Registry · Avro Serde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Jour 8 — Exactly-Once Processing &amp; Fiabilité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06 / SESSION 3 · J8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2779776" cy="1298448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2779776" cy="34747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At-most-once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143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Messages envoyés une seule fois, sans confirmation.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Perte possible. Adapté : analytics non-critiques, logs.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82112" y="749808"/>
            <a:ext cx="2779776" cy="1298448"/>
          </a:xfrm>
          <a:prstGeom prst="rect">
            <a:avLst/>
          </a:prstGeom>
          <a:solidFill>
            <a:srgbClr val="FEF3C7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749808"/>
            <a:ext cx="2779776" cy="34747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749808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At-least-once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143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Au moins une livraison garantie.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Doublons possibles. Standard par défaut de Kafka.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9904" y="749808"/>
            <a:ext cx="2779776" cy="1298448"/>
          </a:xfrm>
          <a:prstGeom prst="rect">
            <a:avLst/>
          </a:prstGeom>
          <a:solidFill>
            <a:srgbClr val="C6F6D5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9904" y="749808"/>
            <a:ext cx="2779776" cy="34747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749808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Exactly-once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99632" y="1143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Livraison strictement = 1. Transactions + idempotence.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Standard finance, banking, comptabilité.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212848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12848"/>
            <a:ext cx="54864" cy="18288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30428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🔄  Transactions Kafka (EOS)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" y="2615184"/>
            <a:ext cx="3995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enable.idempotence=true — déduplication automatique Producer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transactional.id — identifier unique le producer transactionnel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initTransactions() → beginTransaction() → commitTransaction()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isolation.level=read_committed côté Consumer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Garantie atomique : produce + consume + produce dans une transaction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36592" y="221284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6592" y="2212848"/>
            <a:ext cx="54864" cy="18288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230428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💀  Dead Letter Queue (DLQ)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01184" y="2615184"/>
            <a:ext cx="385876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Topic dédié pour messages non-traitables (poison pill pattern)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Consumer publie dans DLQ avec headers de contexte d'erreur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Monitoring DLQ = indicateur de santé du pipeline data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Stratégie : retry exponentiel + DLQ + alerte + replay manuel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DLQ naming convention : &lt;topic&gt;.dlq ou &lt;topic&gt;.error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133088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133088"/>
            <a:ext cx="54864" cy="64008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224528"/>
            <a:ext cx="8339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⚙️  TP Jour 8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8912" y="4535424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Pipeline transactionnel end-to-end (Producer + Kafka Streams + Consumer) avec idempotence activée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Simulation panne mid-pipeline → vérification cohérence données · DLQ : implémentation + monitoring + replay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EOS = Exactly-Once Semantics · Nécessite Kafka 3.x + enable.idempotence=true + transactions · ~5-10% overhead acceptable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Jour 9 — Projet Final End-to-End + Certification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06 / SESSION 3 · J9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3F"/>
                </a:solidFill>
              </a:rPr>
              <a:t>Architecture du projet fil rouge final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1298448" cy="749808"/>
          </a:xfrm>
          <a:prstGeom prst="rect">
            <a:avLst/>
          </a:prstGeom>
          <a:solidFill>
            <a:srgbClr val="E9D8FD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7899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3C9A"/>
                </a:solidFill>
              </a:rPr>
              <a:t>PostgreSQL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" y="15544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Base source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545336" y="1078992"/>
            <a:ext cx="128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91640" y="1078992"/>
            <a:ext cx="1298448" cy="749808"/>
          </a:xfrm>
          <a:prstGeom prst="rect">
            <a:avLst/>
          </a:prstGeom>
          <a:solidFill>
            <a:srgbClr val="FEF3C7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07899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9E2E"/>
                </a:solidFill>
              </a:rPr>
              <a:t>Debezium CDC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91640" y="15544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Capture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008376" y="1078992"/>
            <a:ext cx="128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54680" y="1078992"/>
            <a:ext cx="1298448" cy="749808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07899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6CB0"/>
                </a:solidFill>
              </a:rPr>
              <a:t>Kafka Topics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54680" y="15544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Transport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471416" y="1078992"/>
            <a:ext cx="128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1078992"/>
            <a:ext cx="1298448" cy="749808"/>
          </a:xfrm>
          <a:prstGeom prst="rect">
            <a:avLst/>
          </a:prstGeom>
          <a:solidFill>
            <a:srgbClr val="E6FFFA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07899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94A2"/>
                </a:solidFill>
              </a:rPr>
              <a:t>Kafka Streams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17720" y="15544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Enrichissement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934456" y="1078992"/>
            <a:ext cx="128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80760" y="1078992"/>
            <a:ext cx="1298448" cy="749808"/>
          </a:xfrm>
          <a:prstGeom prst="rect">
            <a:avLst/>
          </a:prstGeom>
          <a:solidFill>
            <a:srgbClr val="C6F6D5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07899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6749"/>
                </a:solidFill>
              </a:rPr>
              <a:t>Elasticsearch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80760" y="15544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Stockage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397496" y="1078992"/>
            <a:ext cx="128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543800" y="1078992"/>
            <a:ext cx="1298448" cy="749808"/>
          </a:xfrm>
          <a:prstGeom prst="rect">
            <a:avLst/>
          </a:prstGeom>
          <a:solidFill>
            <a:srgbClr val="FEEBC8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107899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5621"/>
                </a:solidFill>
              </a:rPr>
              <a:t>Kibana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43800" y="15544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Dashboard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74320" y="2011680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011680"/>
            <a:ext cx="54864" cy="171907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210312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🏆  Projet — Ce que vous construisez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8912" y="2414016"/>
            <a:ext cx="39959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PostgreSQL orders table → Debezium CDC → Kafka topic orders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Kafka Streams : enrichissement + agrégation par catégorie produit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Elasticsearch Sink avec mapping dynamique optimisé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Kibana : CA temps réel, top produits, alertes par seuil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36592" y="2011680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6592" y="2011680"/>
            <a:ext cx="54864" cy="171907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210312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🎓  Simulation Certification Confluent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01184" y="2414016"/>
            <a:ext cx="38587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QCM type CCDAK (Confluent Certified Developer for Apache Kafka)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60 questions · 90 minutes · Score cible 75%+ pour la réussite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Correction détaillée + explication de chaque réponse piégée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Stratégie d'examen : priorités, gestion du temps, révisions ciblées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A3F"/>
                </a:solidFill>
              </a:rPr>
              <a:t>Thèmes couverts dans la certification CCDAK :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206240"/>
            <a:ext cx="1700784" cy="256032"/>
          </a:xfrm>
          <a:prstGeom prst="rect">
            <a:avLst/>
          </a:prstGeom>
          <a:solidFill>
            <a:srgbClr val="EBF4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2062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</a:rPr>
              <a:t>Offsets &amp; partitions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066544" y="4206240"/>
            <a:ext cx="1550822" cy="256032"/>
          </a:xfrm>
          <a:prstGeom prst="rect">
            <a:avLst/>
          </a:prstGeom>
          <a:solidFill>
            <a:srgbClr val="EBF4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66544" y="4206240"/>
            <a:ext cx="15508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</a:rPr>
              <a:t>Producer internals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708806" y="4206240"/>
            <a:ext cx="1325880" cy="256032"/>
          </a:xfrm>
          <a:prstGeom prst="rect">
            <a:avLst/>
          </a:prstGeom>
          <a:solidFill>
            <a:srgbClr val="EBF4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08806" y="42062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</a:rPr>
              <a:t>Consumer groups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126126" y="4206240"/>
            <a:ext cx="1100938" cy="256032"/>
          </a:xfrm>
          <a:prstGeom prst="rect">
            <a:avLst/>
          </a:prstGeom>
          <a:solidFill>
            <a:srgbClr val="EBF4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6126" y="4206240"/>
            <a:ext cx="1100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</a:rPr>
              <a:t>Exactly-once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318504" y="4206240"/>
            <a:ext cx="1175918" cy="256032"/>
          </a:xfrm>
          <a:prstGeom prst="rect">
            <a:avLst/>
          </a:prstGeom>
          <a:solidFill>
            <a:srgbClr val="EBF4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18504" y="4206240"/>
            <a:ext cx="11759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</a:rPr>
              <a:t>Kafka Streams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585862" y="4206240"/>
            <a:ext cx="801014" cy="256032"/>
          </a:xfrm>
          <a:prstGeom prst="rect">
            <a:avLst/>
          </a:prstGeom>
          <a:solidFill>
            <a:srgbClr val="EBF4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5862" y="4206240"/>
            <a:ext cx="8010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</a:rPr>
              <a:t>Security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Projet final industrialisable · Docker Compose fourni · Code source remis · Correction certification individuelle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31520"/>
            <a:ext cx="2286000" cy="2286000"/>
          </a:xfrm>
          <a:prstGeom prst="ellipse">
            <a:avLst/>
          </a:prstGeom>
          <a:solidFill>
            <a:srgbClr val="553C9A">
              <a:alpha val="10000"/>
            </a:srgbClr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1371600" cy="1371600"/>
          </a:xfrm>
          <a:prstGeom prst="ellipse">
            <a:avLst/>
          </a:prstGeom>
          <a:solidFill>
            <a:srgbClr val="553C9A">
              <a:alpha val="15000"/>
            </a:srgbClr>
          </a:solidFill>
          <a:ln w="9525">
            <a:solidFill>
              <a:srgbClr val="553C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553C9A"/>
                </a:solidFill>
              </a:rPr>
              <a:t>07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7772400" cy="36576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A3F"/>
                </a:solidFill>
              </a:rPr>
              <a:t>Cas d'usage industriels &amp; REX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Retours d'expérience terrain — Finance, E-commerce, Logistique, Data Platform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REX — Finance &amp; Banque avec Apache Kafka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07 / CAS D'USAGE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1234440"/>
          </a:xfrm>
          <a:prstGeom prst="rect">
            <a:avLst/>
          </a:prstGeom>
          <a:solidFill>
            <a:srgbClr val="EBF4FF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54864" cy="12344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822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3F"/>
                </a:solidFill>
              </a:rPr>
              <a:t>Détection de fraude en temps réel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822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B6CB0"/>
                </a:solidFill>
              </a:rPr>
              <a:t>Banking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60120" y="1152144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Analyse comportementale de chaque transaction en &lt; 50ms. Kafka Streams avec fenêtres glissantes 5 min pour détecter les anomalies. Règles métiers sur le stream, résultat dans un topic d'alerte consommé par le système de blocage automatique.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46520" y="1042416"/>
            <a:ext cx="1188720" cy="34747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10424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&lt; 50ms décision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680960" y="1042416"/>
            <a:ext cx="1188720" cy="34747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10424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99.99% dispo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46520" y="1481328"/>
            <a:ext cx="1188720" cy="34747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1481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3M tx/heure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74320" y="2139696"/>
            <a:ext cx="8595360" cy="1234440"/>
          </a:xfrm>
          <a:prstGeom prst="rect">
            <a:avLst/>
          </a:prstGeom>
          <a:solidFill>
            <a:srgbClr val="E6FFFA"/>
          </a:solidFill>
          <a:ln w="9525">
            <a:solidFill>
              <a:srgbClr val="0694A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2139696"/>
            <a:ext cx="54864" cy="123444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32888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60120" y="22128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3F"/>
                </a:solidFill>
              </a:rPr>
              <a:t>Synchronisation multi-systèmes core-banking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852160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94A2"/>
                </a:solidFill>
              </a:rPr>
              <a:t>Insurance / Banque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60120" y="2542032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CDC Debezium sur systèmes core-banking (Oracle, DB2). Propagation des mises à jour de solde vers apps mobiles, comptabilité, reporting réglementaire. Garantie exactly-once avec transactions Kafka.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446520" y="2432304"/>
            <a:ext cx="1188720" cy="347472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46520" y="24323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12 systèmes sync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7680960" y="2432304"/>
            <a:ext cx="1188720" cy="347472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680960" y="24323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&lt; 200ms E2E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6446520" y="2871216"/>
            <a:ext cx="1188720" cy="347472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46520" y="28712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 perte données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274320" y="3529584"/>
            <a:ext cx="8595360" cy="1234440"/>
          </a:xfrm>
          <a:prstGeom prst="rect">
            <a:avLst/>
          </a:prstGeom>
          <a:solidFill>
            <a:srgbClr val="E9D8FD"/>
          </a:solidFill>
          <a:ln w="9525">
            <a:solidFill>
              <a:srgbClr val="553C9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74320" y="3529584"/>
            <a:ext cx="54864" cy="123444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22776"/>
            <a:ext cx="365760" cy="3657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60120" y="36027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3F"/>
                </a:solidFill>
              </a:rPr>
              <a:t>Calcul de risque financier temps réel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852160" y="36027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53C9A"/>
                </a:solidFill>
              </a:rPr>
              <a:t>Asset Management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960120" y="393192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Streaming des prix de marché via Kafka. Kafka Streams pour calcul P&amp;L et VaR en continu. Résultats publiés vers dashboards traders. Remplacement d'un batch nocturne par un calcul continu 24/7.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6446520" y="3822192"/>
            <a:ext cx="1188720" cy="347472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46520" y="38221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1M prix/sec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7680960" y="3822192"/>
            <a:ext cx="1188720" cy="347472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680960" y="38221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Batch → temps réel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6446520" y="4261104"/>
            <a:ext cx="1188720" cy="347472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46520" y="42611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6h→&lt;1min VaR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Ces REX illustrent les patterns Kafka Streams, CDC Debezium et Exactly-once — couverts respectivement aux J3, J7 et J8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REX — E-commerce, Logistique &amp; IoT avec Kafka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07 / CAS D'USAGE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793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54864" cy="2331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41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🛒  E-commerce — Tracking commande live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152144"/>
            <a:ext cx="402336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Kafka = backbone événements commandes (création, paiement, expédition)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Chaque microservice publie son événement dans un topic dédié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Consumer : notification client temps réel (SMS/push/email)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Kafka Streams : calcul ETA dynamique basé sur état entrepôt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Résultat : NPS +15pts, -40% appels service client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36592" y="749808"/>
            <a:ext cx="42793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6592" y="749808"/>
            <a:ext cx="54864" cy="233172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841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🚚  Logistique — Fleet tracking GPS temps réel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01184" y="1152144"/>
            <a:ext cx="402336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Ingestion trames GPS : 1 msg/sec/véhicule, 50k véhicules fleet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Kafka Connect IoT source → topics par zone géographique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Kafka Streams : détection anomalies (arrêt prolongé, déviation)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Alerting temps réel vers dispatchers — notification &lt; 30 secondes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Résultat : -12% km à vide, +8% ponctualité livraisons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42793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200400"/>
            <a:ext cx="54864" cy="233172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⚙️  Industrie 4.0 — Monitoring IoT usine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" y="3602736"/>
            <a:ext cx="402336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10 000 capteurs/usine (température, pression) via MQTT bridge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Kafka Streams : fenêtres de détection tendances défaillance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Maintenance prédictive : alerte avant la panne effective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Résultat : -30% temps d'arrêt non planifié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36592" y="3200400"/>
            <a:ext cx="42793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6592" y="3200400"/>
            <a:ext cx="54864" cy="233172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📊  Data Platform — Data Lake streaming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01184" y="3602736"/>
            <a:ext cx="402336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Remplacement ETL batch par pipeline Kafka continu (Kafka Connect)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Kafka → S3 + Elasticsearch via connecteurs managés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Schema Registry : gestion évolution schéma sans downtime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Résultat : fraîcheur T+5min vs T+24h avant — coûts -35%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Ces REX sont discutés en contexte théorique et reproduits partiellement dans les TP fil rouge des sessions 1 à 3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Antipatterns Kafka — Erreurs courantes en production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07 / CAS D'USAGE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79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4279392" cy="301752"/>
          </a:xfrm>
          <a:prstGeom prst="rect">
            <a:avLst/>
          </a:prstGeom>
          <a:solidFill>
            <a:srgbClr val="FED7D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49808"/>
            <a:ext cx="54864" cy="1234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7863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</a:rPr>
              <a:t>✗  Trop peu de partitions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Impact : Goulot d'étranglement — consumer group sous-utilisé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38988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✔ Fix : Partitions ≥ nb consumers max attendus · 10–50 par topic recommandé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139696"/>
            <a:ext cx="4279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39696"/>
            <a:ext cx="4279392" cy="301752"/>
          </a:xfrm>
          <a:prstGeom prst="rect">
            <a:avLst/>
          </a:prstGeom>
          <a:solidFill>
            <a:srgbClr val="FED7D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39696"/>
            <a:ext cx="54864" cy="1234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1762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</a:rPr>
              <a:t>✗  acks=0 en production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" y="24871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Impact : Perte de messages garantie en cas de crash broker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277977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✔ Fix : acks=all + min.insync.replicas=2 pour durabilité absolue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529584"/>
            <a:ext cx="4279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529584"/>
            <a:ext cx="4279392" cy="301752"/>
          </a:xfrm>
          <a:prstGeom prst="rect">
            <a:avLst/>
          </a:prstGeom>
          <a:solidFill>
            <a:srgbClr val="FED7D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529584"/>
            <a:ext cx="54864" cy="1234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5661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</a:rPr>
              <a:t>✗  Auto-commit consumer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38770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Impact : Perte ou duplication selon timing du rebalancing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" y="416966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✔ Fix : Commit manuel après traitement confirmé du batch de messages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36592" y="749808"/>
            <a:ext cx="4279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6592" y="749808"/>
            <a:ext cx="4279392" cy="301752"/>
          </a:xfrm>
          <a:prstGeom prst="rect">
            <a:avLst/>
          </a:prstGeom>
          <a:solidFill>
            <a:srgbClr val="FED7D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36592" y="749808"/>
            <a:ext cx="54864" cy="1234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7863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</a:rPr>
              <a:t>✗  Messages &gt; 1MB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01184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Impact : Latence accrue, pression mémoire broker, rebalancing lent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01184" y="138988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✔ Fix : Max 1MB/message · Chunking ou stockage externe + référence UUID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36592" y="2139696"/>
            <a:ext cx="4279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592" y="2139696"/>
            <a:ext cx="4279392" cy="301752"/>
          </a:xfrm>
          <a:prstGeom prst="rect">
            <a:avLst/>
          </a:prstGeom>
          <a:solidFill>
            <a:srgbClr val="FED7D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36592" y="2139696"/>
            <a:ext cx="54864" cy="1234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21762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</a:rPr>
              <a:t>✗  Pas de monitoring du lag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01184" y="24871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Impact : Accumulation silencieuse → backlog impossible à résorber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01184" y="277977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✔ Fix : Alerte Consumer Lag &gt; N messages · Agir avant la crise de backlog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36592" y="3529584"/>
            <a:ext cx="4279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36592" y="3529584"/>
            <a:ext cx="4279392" cy="301752"/>
          </a:xfrm>
          <a:prstGeom prst="rect">
            <a:avLst/>
          </a:prstGeom>
          <a:solidFill>
            <a:srgbClr val="FED7D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36592" y="3529584"/>
            <a:ext cx="54864" cy="1234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35661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</a:rPr>
              <a:t>✗  Topics auto-créés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01184" y="38770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Impact : Prolifération incontrôlée, configurations non conformes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01184" y="416966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✔ Fix : auto.create.topics.enable=false · Naming convention stricte + CI/CD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Ces antipatterns sont abordés au fur et à mesure des TP — chaque erreur est simulée puis corrigée en situation réelle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31520"/>
            <a:ext cx="2286000" cy="2286000"/>
          </a:xfrm>
          <a:prstGeom prst="ellipse">
            <a:avLst/>
          </a:prstGeom>
          <a:solidFill>
            <a:srgbClr val="0694A2">
              <a:alpha val="10000"/>
            </a:srgbClr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1371600" cy="1371600"/>
          </a:xfrm>
          <a:prstGeom prst="ellipse">
            <a:avLst/>
          </a:prstGeom>
          <a:solidFill>
            <a:srgbClr val="0694A2">
              <a:alpha val="15000"/>
            </a:srgbClr>
          </a:solidFill>
          <a:ln w="9525">
            <a:solidFill>
              <a:srgbClr val="0694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694A2"/>
                </a:solidFill>
              </a:rPr>
              <a:t>08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7772400" cy="36576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A3F"/>
                </a:solidFill>
              </a:rPr>
              <a:t>Choix d'architecture &amp; Solutions complémentaires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Critères de décision, arbre de choix et écosystème étendu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Arbre de décision — Choisir la bonne configuration Kafka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08 / 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2103120" cy="5852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749808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Volume de messages 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87168" y="841248"/>
            <a:ext cx="3017520" cy="402336"/>
          </a:xfrm>
          <a:prstGeom prst="rect">
            <a:avLst/>
          </a:prstGeom>
          <a:solidFill>
            <a:srgbClr val="FEF3C7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841248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◦ &lt; 10k/sec → RF=2, 3 partitions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50992" y="841248"/>
            <a:ext cx="3154680" cy="402336"/>
          </a:xfrm>
          <a:prstGeom prst="rect">
            <a:avLst/>
          </a:prstGeom>
          <a:solidFill>
            <a:srgbClr val="C6F6D5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05856" y="841248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✓ &gt; 100k/sec → 6+ partitions, brokers dédiés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444752"/>
            <a:ext cx="859536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444752"/>
            <a:ext cx="2103120" cy="5852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444752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Durabilité des données 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87168" y="1536192"/>
            <a:ext cx="3017520" cy="402336"/>
          </a:xfrm>
          <a:prstGeom prst="rect">
            <a:avLst/>
          </a:prstGeom>
          <a:solidFill>
            <a:srgbClr val="FEF3C7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1536192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◦ Non-critique → acks=1, RF=2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50992" y="1536192"/>
            <a:ext cx="3154680" cy="402336"/>
          </a:xfrm>
          <a:prstGeom prst="rect">
            <a:avLst/>
          </a:prstGeom>
          <a:solidFill>
            <a:srgbClr val="C6F6D5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05856" y="1536192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✓ Critique (finance) → acks=all, RF=3, min.ISR=2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139696"/>
            <a:ext cx="859536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139696"/>
            <a:ext cx="2103120" cy="5852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139696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Traitement des données 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87168" y="2231136"/>
            <a:ext cx="3017520" cy="402336"/>
          </a:xfrm>
          <a:prstGeom prst="rect">
            <a:avLst/>
          </a:prstGeom>
          <a:solidFill>
            <a:srgbClr val="FEF3C7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2231136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◦ Routage simple → Kafka Connect seul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50992" y="2231136"/>
            <a:ext cx="3154680" cy="402336"/>
          </a:xfrm>
          <a:prstGeom prst="rect">
            <a:avLst/>
          </a:prstGeom>
          <a:solidFill>
            <a:srgbClr val="C6F6D5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05856" y="2231136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✓ Agrégation/jointure → Kafka Streams ou Flink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834640"/>
            <a:ext cx="2103120" cy="5852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2834640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Gestion des schémas 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87168" y="2926080"/>
            <a:ext cx="3017520" cy="402336"/>
          </a:xfrm>
          <a:prstGeom prst="rect">
            <a:avLst/>
          </a:prstGeom>
          <a:solidFill>
            <a:srgbClr val="FEF3C7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2926080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◦ Format fixe → JSON natif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50992" y="2926080"/>
            <a:ext cx="3154680" cy="402336"/>
          </a:xfrm>
          <a:prstGeom prst="rect">
            <a:avLst/>
          </a:prstGeom>
          <a:solidFill>
            <a:srgbClr val="C6F6D5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05856" y="2926080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✓ Évolution prévue → Avro + Schema Registry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529584"/>
            <a:ext cx="859536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529584"/>
            <a:ext cx="2103120" cy="5852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3529584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Latence cible ?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87168" y="3621024"/>
            <a:ext cx="3017520" cy="402336"/>
          </a:xfrm>
          <a:prstGeom prst="rect">
            <a:avLst/>
          </a:prstGeom>
          <a:solidFill>
            <a:srgbClr val="FEF3C7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2032" y="3621024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◦ &lt; 10ms → linger.ms=0, pas de compression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50992" y="3621024"/>
            <a:ext cx="3154680" cy="402336"/>
          </a:xfrm>
          <a:prstGeom prst="rect">
            <a:avLst/>
          </a:prstGeom>
          <a:solidFill>
            <a:srgbClr val="C6F6D5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05856" y="3621024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✓ &gt; 50ms accepté → snappy/lz4, batch optimisé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224528"/>
            <a:ext cx="859536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224528"/>
            <a:ext cx="2103120" cy="5852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4224528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Infra : cloud ou on-premise ?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487168" y="4315968"/>
            <a:ext cx="3017520" cy="402336"/>
          </a:xfrm>
          <a:prstGeom prst="rect">
            <a:avLst/>
          </a:prstGeom>
          <a:solidFill>
            <a:srgbClr val="FEF3C7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4315968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◦ Cloud → Confluent Cloud / MSK / Event Hubs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50992" y="4315968"/>
            <a:ext cx="3154680" cy="402336"/>
          </a:xfrm>
          <a:prstGeom prst="rect">
            <a:avLst/>
          </a:prstGeom>
          <a:solidFill>
            <a:srgbClr val="C6F6D5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05856" y="4315968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✓ On-premise → Kafka KRaft + monitoring complet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Ces critères de décision sont abordés en théorie et testés lors des TP de performance (J6) et d'architecture (J3 &amp; J8)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Solutions complémentaires &amp; intégrations Kafka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08 / 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79392" cy="1234440"/>
          </a:xfrm>
          <a:prstGeom prst="rect">
            <a:avLst/>
          </a:prstGeom>
          <a:solidFill>
            <a:srgbClr val="EBF4FF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54864" cy="12344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22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Schema Registry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8229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B6CB0"/>
                </a:solidFill>
              </a:rPr>
              <a:t>Gestion schémas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11521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Registre centralisé Avro/JSON/Protobuf. Validation automatique, versioning, compatibilité FORWARD/BACKWARD/FULL. Confluent (gratuit) ou Apicurio (open source).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139696"/>
            <a:ext cx="4279392" cy="1234440"/>
          </a:xfrm>
          <a:prstGeom prst="rect">
            <a:avLst/>
          </a:prstGeom>
          <a:solidFill>
            <a:srgbClr val="E9D8FD"/>
          </a:solidFill>
          <a:ln w="9525">
            <a:solidFill>
              <a:srgbClr val="553C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39696"/>
            <a:ext cx="54864" cy="123444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3C9A"/>
                </a:solidFill>
              </a:rPr>
              <a:t>Apache Flink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21284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3C9A"/>
                </a:solidFill>
              </a:rPr>
              <a:t>Stream processing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8912" y="254203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Moteur distribué complexe. Kafka comme source/sink native. CEP, ML streaming, état distribué large. Confluent intègre Flink nativement depuis 2024.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529584"/>
            <a:ext cx="4279392" cy="1234440"/>
          </a:xfrm>
          <a:prstGeom prst="rect">
            <a:avLst/>
          </a:prstGeom>
          <a:solidFill>
            <a:srgbClr val="E6FFFA"/>
          </a:solidFill>
          <a:ln w="9525">
            <a:solidFill>
              <a:srgbClr val="0694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529584"/>
            <a:ext cx="54864" cy="123444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602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94A2"/>
                </a:solidFill>
              </a:rPr>
              <a:t>Elasticsearch+Kibana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6027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94A2"/>
                </a:solidFill>
              </a:rPr>
              <a:t>Sink &amp; Analytics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8912" y="393192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Kafka Connect ES Sink pour indexation temps réel. Kibana pour dashboards dynamiques. Standard pour la visualisation des pipelines de données en streaming.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36592" y="749808"/>
            <a:ext cx="4279392" cy="1234440"/>
          </a:xfrm>
          <a:prstGeom prst="rect">
            <a:avLst/>
          </a:prstGeom>
          <a:solidFill>
            <a:srgbClr val="FEEBC8"/>
          </a:solidFill>
          <a:ln w="9525">
            <a:solidFill>
              <a:srgbClr val="C0562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36592" y="749808"/>
            <a:ext cx="54864" cy="123444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822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621"/>
                </a:solidFill>
              </a:rPr>
              <a:t>Apache Spark Streaming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91272" y="8229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5621"/>
                </a:solidFill>
              </a:rPr>
              <a:t>Batch + Stream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01184" y="11521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foreachBatch pour lire Kafka. Unifie batch/stream. Idéal : data lake, ML pipelines. Databricks propose Spark + Delta Lake + Kafka intégrés.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2139696"/>
            <a:ext cx="4279392" cy="1234440"/>
          </a:xfrm>
          <a:prstGeom prst="rect">
            <a:avLst/>
          </a:prstGeom>
          <a:solidFill>
            <a:srgbClr val="C6F6D5"/>
          </a:solidFill>
          <a:ln w="9525">
            <a:solidFill>
              <a:srgbClr val="2767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2139696"/>
            <a:ext cx="54864" cy="12344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AKHQ / Kafka UI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91272" y="221284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76749"/>
                </a:solidFill>
              </a:rPr>
              <a:t>Tooling &amp; Admin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01184" y="254203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Interface graphique pour explorer topics, consumers, offsets, configs. AKHQ (open source) recommandé en self-hosted. Conduktor pour l'enterprise.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36592" y="3529584"/>
            <a:ext cx="4279392" cy="1234440"/>
          </a:xfrm>
          <a:prstGeom prst="rect">
            <a:avLst/>
          </a:prstGeom>
          <a:solidFill>
            <a:srgbClr val="FEF3C7"/>
          </a:solidFill>
          <a:ln w="9525">
            <a:solidFill>
              <a:srgbClr val="D69E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36592" y="3529584"/>
            <a:ext cx="54864" cy="123444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3602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9E2E"/>
                </a:solidFill>
              </a:rPr>
              <a:t>Strimzi / Terraform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91272" y="36027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9E2E"/>
                </a:solidFill>
              </a:rPr>
              <a:t>IaC &amp; Kubernetes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01184" y="393192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Strimzi Operator : Kafka natif sur Kubernetes via CRD. Terraform Confluent Provider pour le provisionning cloud. Helm charts officiels disponibles.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Ces solutions sont introduites au fil de la formation · Schema Registry (J3/J7) · Elasticsearch+Kibana (J9) · Flink mentionné J8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Kafka Cloud — Confluent vs MSK vs Event Hubs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08 / 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2779776" cy="4096512"/>
          </a:xfrm>
          <a:prstGeom prst="rect">
            <a:avLst/>
          </a:prstGeom>
          <a:solidFill>
            <a:srgbClr val="EBF4FF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2779776" cy="5029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Confluent Cloud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2412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Confluent Inc.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749"/>
                </a:solidFill>
              </a:rPr>
              <a:t>✔ Avantages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91056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Kafka managé 100% — 0 ops infrastructure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201168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Schema Registry, ksqlDB, Flink intégrés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243230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120+ connecteurs managés (Confluent Hub)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285292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SLA 99.99% · Multi-cloud (AWS/GCP/Azure)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030"/>
                </a:solidFill>
              </a:rPr>
              <a:t>✗ Limites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360273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Coût plus élevé vs self-hosted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396849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Vendor lock-in partiel (extensions propriétaires)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82112" y="749808"/>
            <a:ext cx="2779776" cy="4096512"/>
          </a:xfrm>
          <a:prstGeom prst="rect">
            <a:avLst/>
          </a:prstGeom>
          <a:solidFill>
            <a:srgbClr val="FEF3C7"/>
          </a:solidFill>
          <a:ln w="9525">
            <a:solidFill>
              <a:srgbClr val="D69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82112" y="749808"/>
            <a:ext cx="2779776" cy="50292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74980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Amazon MSK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82112" y="102412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Amazon Web Services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19272" y="132588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749"/>
                </a:solidFill>
              </a:rPr>
              <a:t>✔ Avantages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46704" y="1591056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Intégration native AWS (IAM, VPC, CloudWatch)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46704" y="201168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MSK Serverless — pay-per-use disponible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46704" y="243230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Bon rapport prix/performance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46704" y="285292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Compatible Kafka natif — 0 migration code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9272" y="333756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030"/>
                </a:solidFill>
              </a:rPr>
              <a:t>✗ Limites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46704" y="360273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Moins de features vs Confluent Cloud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46704" y="396849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Schema Registry non inclus nativement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9904" y="749808"/>
            <a:ext cx="2779776" cy="4096512"/>
          </a:xfrm>
          <a:prstGeom prst="rect">
            <a:avLst/>
          </a:prstGeom>
          <a:solidFill>
            <a:srgbClr val="E6FFFA"/>
          </a:solidFill>
          <a:ln w="9525">
            <a:solidFill>
              <a:srgbClr val="0694A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9904" y="749808"/>
            <a:ext cx="2779776" cy="50292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74980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Azure Event Hubs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89904" y="102412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Microsoft Azure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27064" y="132588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749"/>
                </a:solidFill>
              </a:rPr>
              <a:t>✔ Avantages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54496" y="1591056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Compatible protocole Kafka (endpoint AMQP+Kafka)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54496" y="201168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Intégration Azure native (Azure Functions, etc.)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54496" y="243230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Event Hubs Premium pour workloads critiques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27064" y="333756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030"/>
                </a:solidFill>
              </a:rPr>
              <a:t>✗ Limites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54496" y="360273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Pas un Kafka complet — limitations features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54496" y="396849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Certains paramètres Kafka non configurables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Recommandation : Confluent Cloud pour productivité max · MSK si AWS-native · Self-hosted Kafka pour contrôle total et coût optimisé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31520"/>
            <a:ext cx="2286000" cy="2286000"/>
          </a:xfrm>
          <a:prstGeom prst="ellipse">
            <a:avLst/>
          </a:prstGeom>
          <a:solidFill>
            <a:srgbClr val="C05621">
              <a:alpha val="10000"/>
            </a:srgbClr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1371600" cy="1371600"/>
          </a:xfrm>
          <a:prstGeom prst="ellipse">
            <a:avLst/>
          </a:prstGeom>
          <a:solidFill>
            <a:srgbClr val="C05621">
              <a:alpha val="15000"/>
            </a:srgbClr>
          </a:solidFill>
          <a:ln w="9525">
            <a:solidFill>
              <a:srgbClr val="C056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05621"/>
                </a:solidFill>
              </a:rPr>
              <a:t>09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7772400" cy="36576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A3F"/>
                </a:solidFill>
              </a:rPr>
              <a:t>Métriques, Tips &amp; Best Practices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Recettes de production éprouvées et indicateurs clés de performance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Tips &amp; Best Practices — Développement Kafka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09 / TIPS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5196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54864" cy="20848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4124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☕  Producer — Tips Pro Java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152144"/>
            <a:ext cx="399592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Toujours utiliser une clé de partition pour préserver l'ordre par entité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batch.size + linger.ms = levier n°1 du throughput producer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compression.type=snappy : 60-70% réduction réseau, overhead CPU faible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Monitorer record-error-rate — indicateur de saturation broker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Utiliser les callbacks pour logger les erreurs de production asynchrone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944368"/>
            <a:ext cx="425196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944368"/>
            <a:ext cx="54864" cy="1856232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303580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🐍  Consumer — Tips Pro Python/Java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3346704"/>
            <a:ext cx="399592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Ne jamais appeler wakeup() dans le thread poll() — dead-lock garanti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max.poll.interval.ms &gt; temps réel de traitement max (marge x2)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Commit manuel : commitSync() après confirmation traitement batch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assign() vs subscribe() — contrôle fin vs rebalancing automatique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36592" y="749808"/>
            <a:ext cx="4114800" cy="4050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6592" y="749808"/>
            <a:ext cx="54864" cy="405079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84124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F"/>
                </a:solidFill>
              </a:rPr>
              <a:t>🌊  Kafka Streams — Tips Pro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01184" y="1152144"/>
            <a:ext cx="3858768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application.id unique par déploiement — isolation namespace complète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StateStore RocksDB : ne pas le persister manuellement — géré par Kafka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suppress() pour éviter les updates intermédiaires d'une KTable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num.stream.threads = nb partitions / nb instances idéalement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cleanup.policy=compact pour les changelog topics des KTable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setUncaughtExceptionHandler() obligatoire en production Streams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Éviter toute opération bloquante dans les processeurs — timeout risqué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TopologyTestDriver pour tester la topologie AVANT déploiement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Ces tips sont appliqués directement dans les TP des J2 (Producer/Consumer), J3 (Streams) et J8 (Exactly-once)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Métriques de référence &amp; SLA Kafka production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0956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CDF4"/>
                </a:solidFill>
              </a:rPr>
              <a:t>09 / TIPS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3F"/>
                </a:solidFill>
              </a:rPr>
              <a:t>Objectifs SLA typiques d'un cluster Kafka production (3 brokers · i3.4xlarge ou équivalent)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85953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15568"/>
            <a:ext cx="8595360" cy="393192"/>
          </a:xfrm>
          <a:prstGeom prst="rect">
            <a:avLst/>
          </a:prstGeom>
          <a:solidFill>
            <a:srgbClr val="C6F6D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15568"/>
            <a:ext cx="54864" cy="39319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115568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F"/>
                </a:solidFill>
              </a:rPr>
              <a:t>Disponibilité cluster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50208" y="1179576"/>
            <a:ext cx="1691640" cy="27432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0208" y="11795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99.95%+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1115568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&lt; 4.4 heures/an d'indisponibilité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581912"/>
            <a:ext cx="8595360" cy="393192"/>
          </a:xfrm>
          <a:prstGeom prst="rect">
            <a:avLst/>
          </a:prstGeom>
          <a:solidFill>
            <a:srgbClr val="EBF4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581912"/>
            <a:ext cx="54864" cy="39319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581912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F"/>
                </a:solidFill>
              </a:rPr>
              <a:t>Latence Producer P99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50208" y="1645920"/>
            <a:ext cx="1691640" cy="2743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0208" y="1645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&lt; 10ms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1581912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acks=1, pas de compression, même réseau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048256"/>
            <a:ext cx="8595360" cy="393192"/>
          </a:xfrm>
          <a:prstGeom prst="rect">
            <a:avLst/>
          </a:prstGeom>
          <a:solidFill>
            <a:srgbClr val="EBF4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048256"/>
            <a:ext cx="54864" cy="39319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048256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F"/>
                </a:solidFill>
              </a:rPr>
              <a:t>Latence end-to-end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50208" y="2112264"/>
            <a:ext cx="1691640" cy="2743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50208" y="21122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&lt; 100ms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2048256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Producer → Consumer dans des conditions normales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514600"/>
            <a:ext cx="8595360" cy="393192"/>
          </a:xfrm>
          <a:prstGeom prst="rect">
            <a:avLst/>
          </a:prstGeom>
          <a:solidFill>
            <a:srgbClr val="FEF3C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514600"/>
            <a:ext cx="54864" cy="39319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514600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F"/>
                </a:solidFill>
              </a:rPr>
              <a:t>Consumer Lag max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50208" y="2578608"/>
            <a:ext cx="1691640" cy="27432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50208" y="25786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&lt; 5 000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2514600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ALARME déclenchée à 10 000 messages de retard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980944"/>
            <a:ext cx="8595360" cy="393192"/>
          </a:xfrm>
          <a:prstGeom prst="rect">
            <a:avLst/>
          </a:prstGeom>
          <a:solidFill>
            <a:srgbClr val="FED7D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980944"/>
            <a:ext cx="54864" cy="39319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2980944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F"/>
                </a:solidFill>
              </a:rPr>
              <a:t>UnderReplicatedPartitions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950208" y="3044952"/>
            <a:ext cx="1691640" cy="2743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50208" y="30449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= 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60720" y="2980944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Toute valeur &gt; 0 = alarme CRITIQUE immédiate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447288"/>
            <a:ext cx="8595360" cy="393192"/>
          </a:xfrm>
          <a:prstGeom prst="rect">
            <a:avLst/>
          </a:prstGeom>
          <a:solidFill>
            <a:srgbClr val="C6F6D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447288"/>
            <a:ext cx="54864" cy="39319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3447288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F"/>
                </a:solidFill>
              </a:rPr>
              <a:t>Throughput max testé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50208" y="3511296"/>
            <a:ext cx="1691640" cy="27432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50208" y="351129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 1M msg/s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60720" y="3447288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Par cluster 3 brokers i3.4xlarge (EC2 AWS)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913632"/>
            <a:ext cx="8595360" cy="393192"/>
          </a:xfrm>
          <a:prstGeom prst="rect">
            <a:avLst/>
          </a:prstGeom>
          <a:solidFill>
            <a:srgbClr val="E6FF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3913632"/>
            <a:ext cx="54864" cy="393192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3913632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F"/>
                </a:solidFill>
              </a:rPr>
              <a:t>Durabilité données (RF=3)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950208" y="3977640"/>
            <a:ext cx="1691640" cy="27432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50208" y="3977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99.9999%+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60720" y="3913632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min.insync.replicas=2 · Tolérance crash 1 broker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379976"/>
            <a:ext cx="8595360" cy="393192"/>
          </a:xfrm>
          <a:prstGeom prst="rect">
            <a:avLst/>
          </a:prstGeom>
          <a:solidFill>
            <a:srgbClr val="E9D8F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4379976"/>
            <a:ext cx="54864" cy="393192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" y="4379976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F"/>
                </a:solidFill>
              </a:rPr>
              <a:t>Rétention standard production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950208" y="4443984"/>
            <a:ext cx="1691640" cy="27432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50208" y="44439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 jours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760720" y="4379976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log.retention.hours=168 · Ajuster selon use case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Ces métriques sont mesurées en TP J5 (monitoring) et J6 (benchmark) · kafka-producer-perf-test.sh · kafka-consumer-perf-test.sh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31520"/>
            <a:ext cx="2286000" cy="2286000"/>
          </a:xfrm>
          <a:prstGeom prst="ellipse">
            <a:avLst/>
          </a:prstGeom>
          <a:solidFill>
            <a:srgbClr val="276749">
              <a:alpha val="10000"/>
            </a:srgbClr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1371600" cy="1371600"/>
          </a:xfrm>
          <a:prstGeom prst="ellipse">
            <a:avLst/>
          </a:prstGeom>
          <a:solidFill>
            <a:srgbClr val="276749">
              <a:alpha val="15000"/>
            </a:srgbClr>
          </a:solidFill>
          <a:ln w="9525">
            <a:solidFill>
              <a:srgbClr val="2767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76749"/>
                </a:solidFill>
              </a:rPr>
              <a:t>10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7772400" cy="36576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A3F"/>
                </a:solidFill>
              </a:rPr>
              <a:t>Livrables &amp; Conclusion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Ce que vous repartez avec — Compétences, certifications, prochaines étapes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34440"/>
            <a:ext cx="9144000" cy="54864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Vous êtes prêt(e) pour la production.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CDF4"/>
                </a:solidFill>
              </a:rPr>
              <a:t>9 jours · Apache Kafka 3.x · Java · Python · Debezium · Certification Confluent CCDAK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79392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63040"/>
            <a:ext cx="54864" cy="47548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F"/>
                </a:solidFill>
              </a:rPr>
              <a:t>Développement Kafka Java/Python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11880" y="1572768"/>
            <a:ext cx="868680" cy="2560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5727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Avancé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2084832"/>
            <a:ext cx="4279392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84832"/>
            <a:ext cx="54864" cy="47548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848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F"/>
                </a:solidFill>
              </a:rPr>
              <a:t>Architecture Event-Driven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11880" y="2194560"/>
            <a:ext cx="868680" cy="2560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1945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Expert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706624"/>
            <a:ext cx="4279392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06624"/>
            <a:ext cx="54864" cy="47548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0662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F"/>
                </a:solidFill>
              </a:rPr>
              <a:t>Administration Production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11880" y="2816352"/>
            <a:ext cx="868680" cy="25603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28163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Production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36592" y="1463040"/>
            <a:ext cx="4279392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36592" y="1463040"/>
            <a:ext cx="54864" cy="47548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46304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F"/>
                </a:solidFill>
              </a:rPr>
              <a:t>Kafka Streams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74152" y="1572768"/>
            <a:ext cx="868680" cy="25603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74152" y="15727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Avancé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36592" y="2084832"/>
            <a:ext cx="4279392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2084832"/>
            <a:ext cx="54864" cy="47548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0848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F"/>
                </a:solidFill>
              </a:rPr>
              <a:t>Debezium / CDC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74152" y="2194560"/>
            <a:ext cx="868680" cy="25603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74152" y="21945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Expert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36592" y="2706624"/>
            <a:ext cx="4279392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36592" y="2706624"/>
            <a:ext cx="54864" cy="47548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70662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F"/>
                </a:solidFill>
              </a:rPr>
              <a:t>Performance &amp; Sécurité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74152" y="2816352"/>
            <a:ext cx="868680" cy="25603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74152" y="28163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Avancé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3383280"/>
            <a:ext cx="8595360" cy="1234440"/>
          </a:xfrm>
          <a:prstGeom prst="rect">
            <a:avLst/>
          </a:prstGeom>
          <a:solidFill>
            <a:srgbClr val="EBF4FF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Les 9 PPT journaliers vous attendent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38587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Chaque jour (J1 → J9) fera l'objet d'un support détaillé avec slides, schémas, code complet, TP corrigés et notes formateur.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CDF4"/>
                </a:solidFill>
              </a:rPr>
              <a:t>Apache Kafka de A à Z — Formation 9 jours  ·  © Formation Kafka Pro  ·  Kafka 3.x · KRaft · Java 17 · Python 3.9+ · Debezium · Confluent CCDAK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Kafka — Formation complète 9 jours</dc:title>
  <dc:subject>PptxGenJS Presentation</dc:subject>
  <dc:creator>PptxGenJS</dc:creator>
  <cp:lastModifiedBy>PptxGenJS</cp:lastModifiedBy>
  <cp:revision>1</cp:revision>
  <dcterms:created xsi:type="dcterms:W3CDTF">2026-04-10T19:42:55Z</dcterms:created>
  <dcterms:modified xsi:type="dcterms:W3CDTF">2026-04-10T19:42:55Z</dcterms:modified>
</cp:coreProperties>
</file>